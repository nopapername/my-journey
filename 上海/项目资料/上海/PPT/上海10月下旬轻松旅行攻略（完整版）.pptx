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7ee05d52214ef5" /><Relationship Type="http://schemas.openxmlformats.org/officeDocument/2006/relationships/extended-properties" Target="/docProps/app.xml" Id="R9b67a119768d4e7a" /><Relationship Type="http://schemas.openxmlformats.org/officeDocument/2006/relationships/officeDocument" Target="/ppt/presentation.xml" Id="Re0d798648f1c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6ec8ddda944f5"/>
  </p:sldMasterIdLst>
  <p:notesMasterIdLst>
    <p:notesMasterId xmlns:r="http://schemas.openxmlformats.org/officeDocument/2006/relationships" r:id="R2828660dac1c48ab"/>
  </p:notesMasterIdLst>
  <p:sldIdLst>
    <p:sldId xmlns:r="http://schemas.openxmlformats.org/officeDocument/2006/relationships" id="256" r:id="R4ed7e4ee1c1a40d0"/>
    <p:sldId xmlns:r="http://schemas.openxmlformats.org/officeDocument/2006/relationships" id="257" r:id="R38ef50aaad2e42b3"/>
    <p:sldId xmlns:r="http://schemas.openxmlformats.org/officeDocument/2006/relationships" id="258" r:id="R7baeabe29361406a"/>
    <p:sldId xmlns:r="http://schemas.openxmlformats.org/officeDocument/2006/relationships" id="259" r:id="Re91df124084b4882"/>
    <p:sldId xmlns:r="http://schemas.openxmlformats.org/officeDocument/2006/relationships" id="260" r:id="Rcddcc1d3d30943e5"/>
    <p:sldId xmlns:r="http://schemas.openxmlformats.org/officeDocument/2006/relationships" id="261" r:id="R7d7e2e841cbe4afa"/>
    <p:sldId xmlns:r="http://schemas.openxmlformats.org/officeDocument/2006/relationships" id="262" r:id="R0ff5bc8431734e8f"/>
    <p:sldId xmlns:r="http://schemas.openxmlformats.org/officeDocument/2006/relationships" id="263" r:id="Rc2ef0432166a4f64"/>
    <p:sldId xmlns:r="http://schemas.openxmlformats.org/officeDocument/2006/relationships" id="264" r:id="R853f1d4215974afb"/>
    <p:sldId xmlns:r="http://schemas.openxmlformats.org/officeDocument/2006/relationships" id="265" r:id="Rcc04b9b7a38b470e"/>
    <p:sldId xmlns:r="http://schemas.openxmlformats.org/officeDocument/2006/relationships" id="266" r:id="Rfce0a53affb64ad7"/>
    <p:sldId xmlns:r="http://schemas.openxmlformats.org/officeDocument/2006/relationships" id="267" r:id="Rcd9f84c05dc740e4"/>
    <p:sldId xmlns:r="http://schemas.openxmlformats.org/officeDocument/2006/relationships" id="268" r:id="Rdbd6239157e94ed2"/>
    <p:sldId xmlns:r="http://schemas.openxmlformats.org/officeDocument/2006/relationships" id="269" r:id="R7902a2460ba84f7c"/>
    <p:sldId xmlns:r="http://schemas.openxmlformats.org/officeDocument/2006/relationships" id="270" r:id="R30113816100f426a"/>
    <p:sldId xmlns:r="http://schemas.openxmlformats.org/officeDocument/2006/relationships" id="271" r:id="R3630991615484585"/>
    <p:sldId xmlns:r="http://schemas.openxmlformats.org/officeDocument/2006/relationships" id="272" r:id="R1b7def6c2d8b4e72"/>
    <p:sldId xmlns:r="http://schemas.openxmlformats.org/officeDocument/2006/relationships" id="273" r:id="Rc1448efef4424be7"/>
    <p:sldId xmlns:r="http://schemas.openxmlformats.org/officeDocument/2006/relationships" id="274" r:id="R1ed21b210b134537"/>
    <p:sldId xmlns:r="http://schemas.openxmlformats.org/officeDocument/2006/relationships" id="275" r:id="Re08c1222872940c8"/>
    <p:sldId xmlns:r="http://schemas.openxmlformats.org/officeDocument/2006/relationships" id="276" r:id="R16c3eb5a38fd4d1f"/>
    <p:sldId xmlns:r="http://schemas.openxmlformats.org/officeDocument/2006/relationships" id="277" r:id="Rf6095a67105c49c2"/>
    <p:sldId xmlns:r="http://schemas.openxmlformats.org/officeDocument/2006/relationships" id="278" r:id="Rc1f00146f478405f"/>
    <p:sldId xmlns:r="http://schemas.openxmlformats.org/officeDocument/2006/relationships" id="279" r:id="R4f3eb13d21974c84"/>
    <p:sldId xmlns:r="http://schemas.openxmlformats.org/officeDocument/2006/relationships" id="280" r:id="R6ca20900ec7d4fa9"/>
    <p:sldId xmlns:r="http://schemas.openxmlformats.org/officeDocument/2006/relationships" id="281" r:id="Rb5e8787b8e85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f7f399cda4ccb" /><Relationship Type="http://schemas.openxmlformats.org/officeDocument/2006/relationships/slideMaster" Target="/ppt/slideMasters/slideMaster1.xml" Id="R45d6ec8ddda944f5" /><Relationship Type="http://schemas.openxmlformats.org/officeDocument/2006/relationships/notesMaster" Target="/ppt/notesMasters/notesMaster1.xml" Id="R2828660dac1c48ab" /><Relationship Type="http://schemas.openxmlformats.org/officeDocument/2006/relationships/presProps" Target="/ppt/presProps.xml" Id="R15928c846d544a4f" /><Relationship Type="http://schemas.openxmlformats.org/officeDocument/2006/relationships/tableStyles" Target="/ppt/tableStyles.xml" Id="R4c8a5485650b4739" /><Relationship Type="http://schemas.openxmlformats.org/officeDocument/2006/relationships/slide" Target="/ppt/slides/slide1.xml" Id="R4ed7e4ee1c1a40d0" /><Relationship Type="http://schemas.openxmlformats.org/officeDocument/2006/relationships/slide" Target="/ppt/slides/slide2.xml" Id="R38ef50aaad2e42b3" /><Relationship Type="http://schemas.openxmlformats.org/officeDocument/2006/relationships/slide" Target="/ppt/slides/slide3.xml" Id="R7baeabe29361406a" /><Relationship Type="http://schemas.openxmlformats.org/officeDocument/2006/relationships/slide" Target="/ppt/slides/slide4.xml" Id="Re91df124084b4882" /><Relationship Type="http://schemas.openxmlformats.org/officeDocument/2006/relationships/slide" Target="/ppt/slides/slide5.xml" Id="Rcddcc1d3d30943e5" /><Relationship Type="http://schemas.openxmlformats.org/officeDocument/2006/relationships/slide" Target="/ppt/slides/slide6.xml" Id="R7d7e2e841cbe4afa" /><Relationship Type="http://schemas.openxmlformats.org/officeDocument/2006/relationships/slide" Target="/ppt/slides/slide7.xml" Id="R0ff5bc8431734e8f" /><Relationship Type="http://schemas.openxmlformats.org/officeDocument/2006/relationships/slide" Target="/ppt/slides/slide8.xml" Id="Rc2ef0432166a4f64" /><Relationship Type="http://schemas.openxmlformats.org/officeDocument/2006/relationships/slide" Target="/ppt/slides/slide9.xml" Id="R853f1d4215974afb" /><Relationship Type="http://schemas.openxmlformats.org/officeDocument/2006/relationships/slide" Target="/ppt/slides/slide10.xml" Id="Rcc04b9b7a38b470e" /><Relationship Type="http://schemas.openxmlformats.org/officeDocument/2006/relationships/slide" Target="/ppt/slides/slide11.xml" Id="Rfce0a53affb64ad7" /><Relationship Type="http://schemas.openxmlformats.org/officeDocument/2006/relationships/slide" Target="/ppt/slides/slide12.xml" Id="Rcd9f84c05dc740e4" /><Relationship Type="http://schemas.openxmlformats.org/officeDocument/2006/relationships/slide" Target="/ppt/slides/slide13.xml" Id="Rdbd6239157e94ed2" /><Relationship Type="http://schemas.openxmlformats.org/officeDocument/2006/relationships/slide" Target="/ppt/slides/slide14.xml" Id="R7902a2460ba84f7c" /><Relationship Type="http://schemas.openxmlformats.org/officeDocument/2006/relationships/slide" Target="/ppt/slides/slide15.xml" Id="R30113816100f426a" /><Relationship Type="http://schemas.openxmlformats.org/officeDocument/2006/relationships/slide" Target="/ppt/slides/slide16.xml" Id="R3630991615484585" /><Relationship Type="http://schemas.openxmlformats.org/officeDocument/2006/relationships/slide" Target="/ppt/slides/slide17.xml" Id="R1b7def6c2d8b4e72" /><Relationship Type="http://schemas.openxmlformats.org/officeDocument/2006/relationships/slide" Target="/ppt/slides/slide18.xml" Id="Rc1448efef4424be7" /><Relationship Type="http://schemas.openxmlformats.org/officeDocument/2006/relationships/slide" Target="/ppt/slides/slide19.xml" Id="R1ed21b210b134537" /><Relationship Type="http://schemas.openxmlformats.org/officeDocument/2006/relationships/slide" Target="/ppt/slides/slide20.xml" Id="Re08c1222872940c8" /><Relationship Type="http://schemas.openxmlformats.org/officeDocument/2006/relationships/slide" Target="/ppt/slides/slide21.xml" Id="R16c3eb5a38fd4d1f" /><Relationship Type="http://schemas.openxmlformats.org/officeDocument/2006/relationships/slide" Target="/ppt/slides/slide22.xml" Id="Rf6095a67105c49c2" /><Relationship Type="http://schemas.openxmlformats.org/officeDocument/2006/relationships/slide" Target="/ppt/slides/slide23.xml" Id="Rc1f00146f478405f" /><Relationship Type="http://schemas.openxmlformats.org/officeDocument/2006/relationships/slide" Target="/ppt/slides/slide24.xml" Id="R4f3eb13d21974c84" /><Relationship Type="http://schemas.openxmlformats.org/officeDocument/2006/relationships/slide" Target="/ppt/slides/slide25.xml" Id="R6ca20900ec7d4fa9" /><Relationship Type="http://schemas.openxmlformats.org/officeDocument/2006/relationships/slide" Target="/ppt/slides/slide26.xml" Id="Rb5e8787b8e85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f1d45ee60640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0f2c97f8114cd3" /><Relationship Type="http://schemas.openxmlformats.org/officeDocument/2006/relationships/notesMaster" Target="/ppt/notesMasters/notesMaster1.xml" Id="Rd6d1c320a65a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a794fd07c34416" /><Relationship Type="http://schemas.openxmlformats.org/officeDocument/2006/relationships/notesMaster" Target="/ppt/notesMasters/notesMaster1.xml" Id="Re007086a7f9a47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0e718b412485f" /><Relationship Type="http://schemas.openxmlformats.org/officeDocument/2006/relationships/notesMaster" Target="/ppt/notesMasters/notesMaster1.xml" Id="Re0ae5902ffa2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d246dbdb3d46d5" /><Relationship Type="http://schemas.openxmlformats.org/officeDocument/2006/relationships/notesMaster" Target="/ppt/notesMasters/notesMaster1.xml" Id="R7f33810d0811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aabd5483564987" /><Relationship Type="http://schemas.openxmlformats.org/officeDocument/2006/relationships/notesMaster" Target="/ppt/notesMasters/notesMaster1.xml" Id="R74d7553ad55e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d372f59a0b445a" /><Relationship Type="http://schemas.openxmlformats.org/officeDocument/2006/relationships/notesMaster" Target="/ppt/notesMasters/notesMaster1.xml" Id="Rb13bedad441448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6480e0608540c5" /><Relationship Type="http://schemas.openxmlformats.org/officeDocument/2006/relationships/notesMaster" Target="/ppt/notesMasters/notesMaster1.xml" Id="R037df3903f964a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5fcc4070047ea" /><Relationship Type="http://schemas.openxmlformats.org/officeDocument/2006/relationships/notesMaster" Target="/ppt/notesMasters/notesMaster1.xml" Id="R8952c801f08643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9f287a2c0c4608" /><Relationship Type="http://schemas.openxmlformats.org/officeDocument/2006/relationships/notesMaster" Target="/ppt/notesMasters/notesMaster1.xml" Id="Rd15d171ab4ce42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32a6cd6c7140d8" /><Relationship Type="http://schemas.openxmlformats.org/officeDocument/2006/relationships/notesMaster" Target="/ppt/notesMasters/notesMaster1.xml" Id="Re8a72a109db547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e9163072ca4704" /><Relationship Type="http://schemas.openxmlformats.org/officeDocument/2006/relationships/notesMaster" Target="/ppt/notesMasters/notesMaster1.xml" Id="R301f760ee557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836308d26049c7" /><Relationship Type="http://schemas.openxmlformats.org/officeDocument/2006/relationships/notesMaster" Target="/ppt/notesMasters/notesMaster1.xml" Id="R68e8605df38e47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aee83d8cef4753" /><Relationship Type="http://schemas.openxmlformats.org/officeDocument/2006/relationships/notesMaster" Target="/ppt/notesMasters/notesMaster1.xml" Id="R9def6da6062046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d1a74a717a481a" /><Relationship Type="http://schemas.openxmlformats.org/officeDocument/2006/relationships/notesMaster" Target="/ppt/notesMasters/notesMaster1.xml" Id="R7014896eb21b4f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4bb1e4a52a4aa1" /><Relationship Type="http://schemas.openxmlformats.org/officeDocument/2006/relationships/notesMaster" Target="/ppt/notesMasters/notesMaster1.xml" Id="R80a84919629f46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79640884cc45b9" /><Relationship Type="http://schemas.openxmlformats.org/officeDocument/2006/relationships/notesMaster" Target="/ppt/notesMasters/notesMaster1.xml" Id="R74f07d08da3940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2a4fd1be424a06" /><Relationship Type="http://schemas.openxmlformats.org/officeDocument/2006/relationships/notesMaster" Target="/ppt/notesMasters/notesMaster1.xml" Id="R2be3cb33498e4a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30fa0d143845e7" /><Relationship Type="http://schemas.openxmlformats.org/officeDocument/2006/relationships/notesMaster" Target="/ppt/notesMasters/notesMaster1.xml" Id="R28dd2151bf5b4c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85a08c02ad4285" /><Relationship Type="http://schemas.openxmlformats.org/officeDocument/2006/relationships/notesMaster" Target="/ppt/notesMasters/notesMaster1.xml" Id="Ra4db5751a6da4e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dd61bfc918403b" /><Relationship Type="http://schemas.openxmlformats.org/officeDocument/2006/relationships/notesMaster" Target="/ppt/notesMasters/notesMaster1.xml" Id="R4fe845df67974a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1b1285268241ee" /><Relationship Type="http://schemas.openxmlformats.org/officeDocument/2006/relationships/notesMaster" Target="/ppt/notesMasters/notesMaster1.xml" Id="Rde2d685a636a42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a178c4643e4885" /><Relationship Type="http://schemas.openxmlformats.org/officeDocument/2006/relationships/notesMaster" Target="/ppt/notesMasters/notesMaster1.xml" Id="R5b92346e40b940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e49883827b4d20" /><Relationship Type="http://schemas.openxmlformats.org/officeDocument/2006/relationships/notesMaster" Target="/ppt/notesMasters/notesMaster1.xml" Id="R8ee19ea62cb543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9aa9cbf25a4d4d" /><Relationship Type="http://schemas.openxmlformats.org/officeDocument/2006/relationships/notesMaster" Target="/ppt/notesMasters/notesMaster1.xml" Id="R4e2741f7082747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d07f26bd3246c5" /><Relationship Type="http://schemas.openxmlformats.org/officeDocument/2006/relationships/notesMaster" Target="/ppt/notesMasters/notesMaster1.xml" Id="R324d28f00fce42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f839296c3834b27" /><Relationship Type="http://schemas.openxmlformats.org/officeDocument/2006/relationships/notesMaster" Target="/ppt/notesMasters/notesMaster1.xml" Id="R69302de81a64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一、先看行程与路线总览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推荐：7 天 6 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天数／示例日期 | 当天重点 | 建议节奏 | 当晚住宿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D1 · 10/23 周五 | 成都 → 上海，入住、附近吃饭 | 抵达日不排远处景点 | 市区 A，第 1 晚 |</a:t>
            </a:r>
          </a:p>
          <a:p xmlns:a="http://schemas.openxmlformats.org/drawingml/2006/main">
            <a:r>
              <a:t>| D2 · 10/24 周六 | 豫园片区 → 外滩黄昏 → 南京东路夜逛 | 园林可选；午后回酒店休息 | A，第 2 晚 |</a:t>
            </a:r>
          </a:p>
          <a:p xmlns:a="http://schemas.openxmlformats.org/drawingml/2006/main">
            <a:r>
              <a:t>| D3 · 10/25 周日 | 武康大楼 → 武康路 → 安福路 → 乌鲁木齐中路 | 买手店、街拍、奶茶，走累就坐 | A，第 3 晚 |</a:t>
            </a:r>
          </a:p>
          <a:p xmlns:a="http://schemas.openxmlformats.org/drawingml/2006/main">
            <a:r>
              <a:t>| D4 · 10/26 周一 | 陆家嘴商场 → 三件套外观 → 浦东滨江 | 登高任选一个，默认地面慢游 | A，第 4 晚 |</a:t>
            </a:r>
          </a:p>
          <a:p xmlns:a="http://schemas.openxmlformats.org/drawingml/2006/main">
            <a:r>
              <a:t>| D5 · 10/27 周二 | 淮海中路 → 新天地 → 取行李 → 酒店 B | 唯一搬酒店日，下午转场 | 迪士尼周边 B，第 1 晚 |</a:t>
            </a:r>
          </a:p>
          <a:p xmlns:a="http://schemas.openxmlformats.org/drawingml/2006/main">
            <a:r>
              <a:t>| D6 · 10/28 周三 | 上海迪士尼乐园 | 3 个主要项目＋看秀，中午休息 | B，第 2 晚 |</a:t>
            </a:r>
          </a:p>
          <a:p xmlns:a="http://schemas.openxmlformats.org/drawingml/2006/main">
            <a:r>
              <a:t>| D7 · 10/29 周四 | 睡到自然醒，上海 → 成都 | 优先下午或傍晚航班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**住宿日期：A 入住 10/23、退房 10/27；B 入住 10/27、退房 10/29。** 若玩两天乐园，B 改为 10/30 退房，D7 继续入园、D8 返程。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![7天路线总览](路线图/00-行程总览.png)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图中箭头表示行程顺序与交通方式，**不是按比例的城市地图**。实际步行路线以地图 App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A[市区酒店 A：4 晚] --&gt; D2[D2 豫园／外滩／南京东路]</a:t>
            </a:r>
          </a:p>
          <a:p xmlns:a="http://schemas.openxmlformats.org/drawingml/2006/main">
            <a:r>
              <a:t>    A --&gt; D3[D3 武康路／安福路]</a:t>
            </a:r>
          </a:p>
          <a:p xmlns:a="http://schemas.openxmlformats.org/drawingml/2006/main">
            <a:r>
              <a:t>    A --&gt; D4[D4 地铁过江／陆家嘴／浦东滨江]</a:t>
            </a:r>
          </a:p>
          <a:p xmlns:a="http://schemas.openxmlformats.org/drawingml/2006/main">
            <a:r>
              <a:t>    A --&gt; D5[D5 淮海中路／新天地]</a:t>
            </a:r>
          </a:p>
          <a:p xmlns:a="http://schemas.openxmlformats.org/drawingml/2006/main">
            <a:r>
              <a:t>    D5 --&gt; L[回 A 取行李]</a:t>
            </a:r>
          </a:p>
          <a:p xmlns:a="http://schemas.openxmlformats.org/drawingml/2006/main">
            <a:r>
              <a:t>    L --&gt; B[酒店 B：2 晚或 3 晚]</a:t>
            </a:r>
          </a:p>
          <a:p xmlns:a="http://schemas.openxmlformats.org/drawingml/2006/main">
            <a:r>
              <a:t>    B --&gt; D6[D6 迪士尼]</a:t>
            </a:r>
          </a:p>
          <a:p xmlns:a="http://schemas.openxmlformats.org/drawingml/2006/main">
            <a:r>
              <a:t>    D6 --&gt; E[7 天版：次日返程]</a:t>
            </a:r>
          </a:p>
          <a:p xmlns:a="http://schemas.openxmlformats.org/drawingml/2006/main">
            <a:r>
              <a:t>    D6 --&gt; F[8 天版：再玩 1 天，随后返程]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**为什么不增加苏州、杭州或多个古镇？** 你们已有城市地标、街区购物和 1–2 天乐园需求。增加外地城市会占用休息与购物时间，还可能多搬一次行李。朱家角、七宝、M50 等仅作为替换项。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二、住哪里最方便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市区 A：首选大世界／老西门，其次豫园／陆家浜路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区域 | 交通优势 | 适合你们的原因 | 订房检索关键词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**大世界站附近** | 8、14 号线 | 去豫园、陆家嘴和淮海路方便，周边吃饭选择多 | 上海 大世界 地铁站 酒店 |</a:t>
            </a:r>
          </a:p>
          <a:p xmlns:a="http://schemas.openxmlformats.org/drawingml/2006/main">
            <a:r>
              <a:t>| **老西门站附近** | 8、10 号线 | 10 号线到武康路入口交通大学站；接虹桥交通方便 | 上海 老西门 地铁站 酒店 |</a:t>
            </a:r>
          </a:p>
          <a:p xmlns:a="http://schemas.openxmlformats.org/drawingml/2006/main">
            <a:r>
              <a:t>| 豫园站附近 | 10、14 号线 | 老城、外滩方向方便，热门时段房价可能偏高 | 上海 豫园 地铁站 酒店 |</a:t>
            </a:r>
          </a:p>
          <a:p xmlns:a="http://schemas.openxmlformats.org/drawingml/2006/main">
            <a:r>
              <a:t>| 陆家浜路站附近 | 8、9 号线 | 可扩大 200–500 元房源筛选范围，去核心景区多一段交通 | 上海 陆家浜路 地铁站 酒店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**实用选择：先按 300–450 元筛选大世界／老西门的经济或中档连锁酒店；没有合适房源再扩到陆家浜路。** 汉庭、如家、锦江之星、全季等可作为搜索品牌，但必须看具体分店，品牌名不能代替位置、卫生和隔音判断。这里的价格是预算筛选条件，不是查到的实时房价。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选房顺序：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导航实际步行到地铁口尽量 **600 米以内**，理想是 300–500 米；不要只看平台“距地铁直线距离”。</a:t>
            </a:r>
          </a:p>
          <a:p xmlns:a="http://schemas.openxmlformats.org/drawingml/2006/main">
            <a:r>
              <a:t>2. 明确是 **两人入住的整间客房**，核对大床／双床、独立卫浴、外窗和电梯。</a:t>
            </a:r>
          </a:p>
          <a:p xmlns:a="http://schemas.openxmlformats.org/drawingml/2006/main">
            <a:r>
              <a:t>3. 看近 1–3 个月差评中的隔音、卫生、异味与热水问题；尽量避开临高架、酒吧楼上或无窗地下房。</a:t>
            </a:r>
          </a:p>
          <a:p xmlns:a="http://schemas.openxmlformats.org/drawingml/2006/main">
            <a:r>
              <a:t>4. 按整段 4 晚总价比较，核对周末加价、早餐、取消截止时间与行李寄存。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**小红书住宿经验怎么用：** [X02 实游记录](https://www.xiaohongshu.com/explore/69eb7365000000003502b572)选择“白玉兰酒店（南京东路外滩店）”，评价交通方便。可将这个名称作为订房搜索候选，与大世界／老西门房源比较；若想晚饭后随时散步去外滩，南京东路更合适，若更重视整体价格和老城往返，大世界／老西门仍优先。笔记未给出你们日期的房价，不能保证该店每晚 200–500 元。订房时核对平台的完整分店名、地图位置、整段价格与近月评价。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迪士尼周边 B：近 11 号线优先，可靠接驳作备选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方案 | 优点 | 要确认什么 | 推荐程度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**康新公路／秀沿路站附近，11 号线** | 去迪士尼直达，不依赖酒店班车；散场交通比较自主 | 从酒店到地铁口的真实步行路；出站后到乐园安检仍要步行 | **想省心、自己掌握时间，优先** |</a:t>
            </a:r>
          </a:p>
          <a:p xmlns:a="http://schemas.openxmlformats.org/drawingml/2006/main">
            <a:r>
              <a:t>| **川沙正规酒店，提供可靠接驳** | 吃饭方便，选择可能更丰富；接驳合适时省换乘 | 接驳是否收费、是否预约、最早去程、演出结束后的回程、集合点和误车处理 | 只有接驳落实后才选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**川沙站属于 2 号线，迪士尼站属于 11 号线。住川沙并不等于坐一站地铁到迪士尼。** 没有接驳时往返通常需要打车或多次换乘。也不要把酒店名称里的“迪士尼店”理解成位于乐园门口。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预算继续按 **200–500 元／间／晚** 筛选；优先正规酒店而非位置偏、接驳不清楚的民宿。官方主题酒店可另行比较，但不作为这个预算的默认选项。若你们最终只玩 1 天乐园、又非常不愿搬酒店，也可全程住 A，接受 D6 更长的往返通勤。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**新增御桥备选：** X02 实游在乐园前一晚住“如家御桥店”。御桥有 11／18 号线，去迪士尼可走 11 号线；只有准确分店到站步行短、整段总价合适时才选。笔记中的简称并未证明当前营业、接驳或实时房价，先定位完整分店，别把“御桥店”当已推荐预订链接。你们预算内的比较顺序建议为：康新公路／秀沿路地铁房 → 御桥地铁房 → 接驳已落实的川沙酒店。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建议筛选价／间／晚 | 优先条件 | 搜索候选 |</a:t>
            </a:r>
          </a:p>
          <a:p xmlns:a="http://schemas.openxmlformats.org/drawingml/2006/main">
            <a:r>
              <a:t>|---|---:|---|---|</a:t>
            </a:r>
          </a:p>
          <a:p xmlns:a="http://schemas.openxmlformats.org/drawingml/2006/main">
            <a:r>
              <a:t>| A，连续 4 晚 | 300–450 元 | 地铁实走不超过约 600 米、有窗、电梯、安静 | 大世界／老西门连锁；白玉兰 南京东路外滩店作比较 |</a:t>
            </a:r>
          </a:p>
          <a:p xmlns:a="http://schemas.openxmlformats.org/drawingml/2006/main">
            <a:r>
              <a:t>| B，连续 2–3 晚 | 250–400 元 | 11 号线近站或明确夜间接驳 | 康新公路／秀沿路；如家 御桥店作比较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按这个筛选目标，7 天住宿两人共约 **1,700–2,600 元**，8 天约 **1,950–3,000 元**；这是预算目标，不是已查成交价。超过 500 元时换同一地铁区域的房源，保持连住，避免为了便宜几十元频繁搬家。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给酒店的询问文本，可直接复制：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们两位成年人，计划连续住两／三晚，其中一天／两天去迪士尼。请确认当天接驳的最早去程、夜间演出后回程、预约和收费方式、具体集合点；若错过回程，建议的替代交通和夜间车程是什么？房间是否有外窗、电梯、独立卫浴，能否寄存行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一、先看行程与路线总览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推荐：7 天 6 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天数／示例日期 | 当天重点 | 建议节奏 | 当晚住宿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D1 · 10/23 周五 | 成都 → 上海，入住、附近吃饭 | 抵达日不排远处景点 | 市区 A，第 1 晚 |</a:t>
            </a:r>
          </a:p>
          <a:p xmlns:a="http://schemas.openxmlformats.org/drawingml/2006/main">
            <a:r>
              <a:t>| D2 · 10/24 周六 | 豫园片区 → 外滩黄昏 → 南京东路夜逛 | 园林可选；午后回酒店休息 | A，第 2 晚 |</a:t>
            </a:r>
          </a:p>
          <a:p xmlns:a="http://schemas.openxmlformats.org/drawingml/2006/main">
            <a:r>
              <a:t>| D3 · 10/25 周日 | 武康大楼 → 武康路 → 安福路 → 乌鲁木齐中路 | 买手店、街拍、奶茶，走累就坐 | A，第 3 晚 |</a:t>
            </a:r>
          </a:p>
          <a:p xmlns:a="http://schemas.openxmlformats.org/drawingml/2006/main">
            <a:r>
              <a:t>| D4 · 10/26 周一 | 陆家嘴商场 → 三件套外观 → 浦东滨江 | 登高任选一个，默认地面慢游 | A，第 4 晚 |</a:t>
            </a:r>
          </a:p>
          <a:p xmlns:a="http://schemas.openxmlformats.org/drawingml/2006/main">
            <a:r>
              <a:t>| D5 · 10/27 周二 | 淮海中路 → 新天地 → 取行李 → 酒店 B | 唯一搬酒店日，下午转场 | 迪士尼周边 B，第 1 晚 |</a:t>
            </a:r>
          </a:p>
          <a:p xmlns:a="http://schemas.openxmlformats.org/drawingml/2006/main">
            <a:r>
              <a:t>| D6 · 10/28 周三 | 上海迪士尼乐园 | 3 个主要项目＋看秀，中午休息 | B，第 2 晚 |</a:t>
            </a:r>
          </a:p>
          <a:p xmlns:a="http://schemas.openxmlformats.org/drawingml/2006/main">
            <a:r>
              <a:t>| D7 · 10/29 周四 | 睡到自然醒，上海 → 成都 | 优先下午或傍晚航班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**住宿日期：A 入住 10/23、退房 10/27；B 入住 10/27、退房 10/29。** 若玩两天乐园，B 改为 10/30 退房，D7 继续入园、D8 返程。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![7天路线总览](路线图/00-行程总览.png)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图中箭头表示行程顺序与交通方式，**不是按比例的城市地图**。实际步行路线以地图 App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A[市区酒店 A：4 晚] --&gt; D2[D2 豫园／外滩／南京东路]</a:t>
            </a:r>
          </a:p>
          <a:p xmlns:a="http://schemas.openxmlformats.org/drawingml/2006/main">
            <a:r>
              <a:t>    A --&gt; D3[D3 武康路／安福路]</a:t>
            </a:r>
          </a:p>
          <a:p xmlns:a="http://schemas.openxmlformats.org/drawingml/2006/main">
            <a:r>
              <a:t>    A --&gt; D4[D4 地铁过江／陆家嘴／浦东滨江]</a:t>
            </a:r>
          </a:p>
          <a:p xmlns:a="http://schemas.openxmlformats.org/drawingml/2006/main">
            <a:r>
              <a:t>    A --&gt; D5[D5 淮海中路／新天地]</a:t>
            </a:r>
          </a:p>
          <a:p xmlns:a="http://schemas.openxmlformats.org/drawingml/2006/main">
            <a:r>
              <a:t>    D5 --&gt; L[回 A 取行李]</a:t>
            </a:r>
          </a:p>
          <a:p xmlns:a="http://schemas.openxmlformats.org/drawingml/2006/main">
            <a:r>
              <a:t>    L --&gt; B[酒店 B：2 晚或 3 晚]</a:t>
            </a:r>
          </a:p>
          <a:p xmlns:a="http://schemas.openxmlformats.org/drawingml/2006/main">
            <a:r>
              <a:t>    B --&gt; D6[D6 迪士尼]</a:t>
            </a:r>
          </a:p>
          <a:p xmlns:a="http://schemas.openxmlformats.org/drawingml/2006/main">
            <a:r>
              <a:t>    D6 --&gt; E[7 天版：次日返程]</a:t>
            </a:r>
          </a:p>
          <a:p xmlns:a="http://schemas.openxmlformats.org/drawingml/2006/main">
            <a:r>
              <a:t>    D6 --&gt; F[8 天版：再玩 1 天，随后返程]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**为什么不增加苏州、杭州或多个古镇？** 你们已有城市地标、街区购物和 1–2 天乐园需求。增加外地城市会占用休息与购物时间，还可能多搬一次行李。朱家角、七宝、M50 等仅作为替换项。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市区 A：首选大世界／老西门，其次豫园／陆家浜路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区域 | 交通优势 | 适合你们的原因 | 订房检索关键词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**大世界站附近** | 8、14 号线 | 去豫园、陆家嘴和淮海路方便，周边吃饭选择多 | 上海 大世界 地铁站 酒店 |</a:t>
            </a:r>
          </a:p>
          <a:p xmlns:a="http://schemas.openxmlformats.org/drawingml/2006/main">
            <a:r>
              <a:t>| **老西门站附近** | 8、10 号线 | 10 号线到武康路入口交通大学站；接虹桥交通方便 | 上海 老西门 地铁站 酒店 |</a:t>
            </a:r>
          </a:p>
          <a:p xmlns:a="http://schemas.openxmlformats.org/drawingml/2006/main">
            <a:r>
              <a:t>| 豫园站附近 | 10、14 号线 | 老城、外滩方向方便，热门时段房价可能偏高 | 上海 豫园 地铁站 酒店 |</a:t>
            </a:r>
          </a:p>
          <a:p xmlns:a="http://schemas.openxmlformats.org/drawingml/2006/main">
            <a:r>
              <a:t>| 陆家浜路站附近 | 8、9 号线 | 可扩大 200–500 元房源筛选范围，去核心景区多一段交通 | 上海 陆家浜路 地铁站 酒店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**实用选择：先按 300–450 元筛选大世界／老西门的经济或中档连锁酒店；没有合适房源再扩到陆家浜路。** 汉庭、如家、锦江之星、全季等可作为搜索品牌，但必须看具体分店，品牌名不能代替位置、卫生和隔音判断。这里的价格是预算筛选条件，不是查到的实时房价。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选房顺序：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导航实际步行到地铁口尽量 **600 米以内**，理想是 300–500 米；不要只看平台“距地铁直线距离”。</a:t>
            </a:r>
          </a:p>
          <a:p xmlns:a="http://schemas.openxmlformats.org/drawingml/2006/main">
            <a:r>
              <a:t>2. 明确是 **两人入住的整间客房**，核对大床／双床、独立卫浴、外窗和电梯。</a:t>
            </a:r>
          </a:p>
          <a:p xmlns:a="http://schemas.openxmlformats.org/drawingml/2006/main">
            <a:r>
              <a:t>3. 看近 1–3 个月差评中的隔音、卫生、异味与热水问题；尽量避开临高架、酒吧楼上或无窗地下房。</a:t>
            </a:r>
          </a:p>
          <a:p xmlns:a="http://schemas.openxmlformats.org/drawingml/2006/main">
            <a:r>
              <a:t>4. 按整段 4 晚总价比较，核对周末加价、早餐、取消截止时间与行李寄存。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**小红书住宿经验怎么用：** [X02 实游记录](https://www.xiaohongshu.com/explore/69eb7365000000003502b572)选择“白玉兰酒店（南京东路外滩店）”，评价交通方便。可将这个名称作为订房搜索候选，与大世界／老西门房源比较；若想晚饭后随时散步去外滩，南京东路更合适，若更重视整体价格和老城往返，大世界／老西门仍优先。笔记未给出你们日期的房价，不能保证该店每晚 200–500 元。订房时核对平台的完整分店名、地图位置、整段价格与近月评价。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迪士尼周边 B：近 11 号线优先，可靠接驳作备选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方案 | 优点 | 要确认什么 | 推荐程度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**康新公路／秀沿路站附近，11 号线** | 去迪士尼直达，不依赖酒店班车；散场交通比较自主 | 从酒店到地铁口的真实步行路；出站后到乐园安检仍要步行 | **想省心、自己掌握时间，优先** |</a:t>
            </a:r>
          </a:p>
          <a:p xmlns:a="http://schemas.openxmlformats.org/drawingml/2006/main">
            <a:r>
              <a:t>| **川沙正规酒店，提供可靠接驳** | 吃饭方便，选择可能更丰富；接驳合适时省换乘 | 接驳是否收费、是否预约、最早去程、演出结束后的回程、集合点和误车处理 | 只有接驳落实后才选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**川沙站属于 2 号线，迪士尼站属于 11 号线。住川沙并不等于坐一站地铁到迪士尼。** 没有接驳时往返通常需要打车或多次换乘。也不要把酒店名称里的“迪士尼店”理解成位于乐园门口。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预算继续按 **200–500 元／间／晚** 筛选；优先正规酒店而非位置偏、接驳不清楚的民宿。官方主题酒店可另行比较，但不作为这个预算的默认选项。若你们最终只玩 1 天乐园、又非常不愿搬酒店，也可全程住 A，接受 D6 更长的往返通勤。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**新增御桥备选：** X02 实游在乐园前一晚住“如家御桥店”。御桥有 11／18 号线，去迪士尼可走 11 号线；只有准确分店到站步行短、整段总价合适时才选。笔记中的简称并未证明当前营业、接驳或实时房价，先定位完整分店，别把“御桥店”当已推荐预订链接。你们预算内的比较顺序建议为：康新公路／秀沿路地铁房 → 御桥地铁房 → 接驳已落实的川沙酒店。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建议筛选价／间／晚 | 优先条件 | 搜索候选 |</a:t>
            </a:r>
          </a:p>
          <a:p xmlns:a="http://schemas.openxmlformats.org/drawingml/2006/main">
            <a:r>
              <a:t>|---|---:|---|---|</a:t>
            </a:r>
          </a:p>
          <a:p xmlns:a="http://schemas.openxmlformats.org/drawingml/2006/main">
            <a:r>
              <a:t>| A，连续 4 晚 | 300–450 元 | 地铁实走不超过约 600 米、有窗、电梯、安静 | 大世界／老西门连锁；白玉兰 南京东路外滩店作比较 |</a:t>
            </a:r>
          </a:p>
          <a:p xmlns:a="http://schemas.openxmlformats.org/drawingml/2006/main">
            <a:r>
              <a:t>| B，连续 2–3 晚 | 250–400 元 | 11 号线近站或明确夜间接驳 | 康新公路／秀沿路；如家 御桥店作比较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按这个筛选目标，7 天住宿两人共约 **1,700–2,600 元**，8 天约 **1,950–3,000 元**；这是预算目标，不是已查成交价。超过 500 元时换同一地铁区域的房源，保持连住，避免为了便宜几十元频繁搬家。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给酒店的询问文本，可直接复制：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们两位成年人，计划连续住两／三晚，其中一天／两天去迪士尼。请确认当天接驳的最早去程、夜间演出后回程、预约和收费方式、具体集合点；若错过回程，建议的替代交通和夜间车程是什么？房间是否有外窗、电梯、独立卫浴，能否寄存行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D1｜成都到上海：入住后只在附近吃饭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**航班建议：** 搜成都天府 TFU／双流 CTU 到上海虹桥 SHA／浦东 PVG 的直飞，按“含行李往返总价＋起降时间＋机场交通”比较。优先中午前后出发、下午到上海的航班。去程虹桥到市区便利；若回程票价合适，浦东离迪士尼周边一般更近。两个机场可以分别购买，但核对航站楼和行李额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抵达机场 | 去市区 A 的参考路径 | 给交通留出的时间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虹桥 T1／T2 | 10 号线 → 老西门／豫园；住大世界可在老西门换 8 号线 | 出站取行李后，酒店门到门约 60–90 分钟 |</a:t>
            </a:r>
          </a:p>
          <a:p xmlns:a="http://schemas.openxmlformats.org/drawingml/2006/main">
            <a:r>
              <a:t>| 浦东 T1／T2 | 2 号线 → 陆家嘴换 14 号线 → 豫园／大世界 | 出站取行李后，酒店门到门约 90–120 分钟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酒店不靠近车站、行李较多或航班晚到时，两人直接网约车更轻松；费用以叫车页面为准。以上时间不含航班晚点，落地到吃上晚饭还要加取行李和入住时间。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**晚餐：** 找酒店附近的生煎＋牛肉粉丝汤，或本帮小馆。大世界一带可把云南南路作为找吃饭的区域关键词。当天不要求去外滩，避免为一张夜景照片往返折腾。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D2｜老城＋外滩＋南京东路：经典上海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→ 豫园片区 → A 休息 → 外滩黄昏 → 南京东路 → A。**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![D2路线](路线图/01-外滩老城.png)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时间窗口 | 安排 | 路线与取舍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10:00–12:00 | 园林或商城选一个为主，九曲桥／湖心亭外观短停 | 大世界乘 14 号线到豫园；老西门乘 10 号线到豫园。入园慢游时商城只短逛；先确认开放和购票入口 |</a:t>
            </a:r>
          </a:p>
          <a:p xmlns:a="http://schemas.openxmlformats.org/drawingml/2006/main">
            <a:r>
              <a:t>| 12:00–13:00 | 小笼＋小吃午餐 | 南翔馒头店等仅顺路选择，排队超过约 30 分钟就换店 |</a:t>
            </a:r>
          </a:p>
          <a:p xmlns:a="http://schemas.openxmlformats.org/drawingml/2006/main">
            <a:r>
              <a:t>| 13:30–15:30 | 回 A 休息 | 酒店较近，这是安排午休的优势；不想折返可在商场／茶馆坐 45–60 分钟 |</a:t>
            </a:r>
          </a:p>
          <a:p xmlns:a="http://schemas.openxmlformats.org/drawingml/2006/main">
            <a:r>
              <a:t>| 16:00–18:00 | 外滩建筑与江景，等天色变暗 | 南京东路站出站，沿南京东路向东至中山东一路；先看建筑，再上江边步道 |</a:t>
            </a:r>
          </a:p>
          <a:p xmlns:a="http://schemas.openxmlformats.org/drawingml/2006/main">
            <a:r>
              <a:t>| 18:00–20:00 | 南京东路晚餐、商场和伴手礼 | 从外滩沿南京东路往西走，走到自己想逛的店即可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**豫园园林、豫园商城、城隍庙道观是三个不同空间。** 只想拍建筑、吃小吃，可以保留商城和九曲桥，省去收费园林。不要把十月旅游当成春节灯会安排。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外滩轻松步行线：**南京东路／和平饭店外观 → 外滩观景步道 → 黄浦公园附近**。外白渡桥、外滩源可加选；若疲劳，到外滩主段即可。南京东路站至江边约 10–20 分钟，外滩选段约 0.8–1.5 公里。全天按 **3–5 公里**步行预算，周六人多时主动缩短。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十月下旬日落较早，约 **17 点前后**逐渐进入黄昏；当天日落和灯光以实时情况为准，不承诺固定亮灯时间。若想完整看夜景，晚餐放到看完之后；若饿了，可提前在南京东路吃，再回江边，但会多走一段。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**餐饮顺序：** 午餐小笼，晚餐本帮菜，伴手礼选沈大成等糕团或鲜肉月饼。南京东路适合看热闹、买老字号食品；买手店留给 D3，不必这天逛整条南京路。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**落实到店：** 午餐搜索“南翔馒头店 豫园”，优先鲜肉小笼，两人分享一笼再按食量加点；排队过长可换“大壶春 豫园店”的生煎。糕团搜索“沈大成 南京东路”，选条头糕／双酿团少量现买；豫园茶饮可选“裕莲茶楼 豫园”的琥珀奶茶，蛋挞两人共享。南翔和沈大成在 [X02 实游](https://www.xiaohongshu.com/explore/69eb7365000000003502b572)与 [X10 豫园餐饮整理](https://www.xiaohongshu.com/explore/69fed3b00000000037034cd9)中重复出现；裕莲是 X10 单篇候选。具体分店、门牌、菜单与营业仍按地图／店方确认，午餐、奶茶、糕团不要求全部吃完。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还有原指南交叉：[豫园指南](https://www.chinahighlights.com/shanghai/attraction/yuyuan-garden.htm)将南翔放在豫园商城区域，[城隍庙豫园指南](https://gotravellingworld.com/shanghai-city-god-temple-travel-guide/)明确写大壶春豫园店，[南京路指南](https://www.travelchinaguide.com/attraction/shanghai/nanjing_road.htm)列沈大成。它们支持区域顺路关系，没有给足准确门牌，本版用分店关键词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https://goasia.cc/cn/article/the-bund-shanghai</a:t>
            </a:r>
          </a:p>
          <a:p xmlns:a="http://schemas.openxmlformats.org/drawingml/2006/main">
            <a:r>
              <a:t>https://www.travelchinaguide.com/attraction/shanghai/nanjing_road.htm</a:t>
            </a:r>
          </a:p>
          <a:p xmlns:a="http://schemas.openxmlformats.org/drawingml/2006/main">
            <a:r>
              <a:t>https://www.chinahighlights.com/shanghai/attraction/yuyuan-garden.htm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小红书餐饮店单：按区域安排，选够一顿就停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下表优先保留上海菜式与实际路线匹配的店。价格一列是你们的**预留预算**，不是店铺菜单报价；具体分店营业、菜单和排队尚未实时验证。来源编号可在[来源索引](攻略来源索引.md)找到。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安排 | 推荐店／分店检索词 | 特色与点单 | 两人预留 | 来源与路线取舍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D1 附近或 D2 豫园 | **大壶春 豫园店**；D1只选酒店旁分店 | 生煎配汤，先点一份分享，留肚子吃下一餐 | 50–90 元 | X02 实游；豫园店可替换南翔，不两家都排队 |</a:t>
            </a:r>
          </a:p>
          <a:p xmlns:a="http://schemas.openxmlformats.org/drawingml/2006/main">
            <a:r>
              <a:t>| D2 豫园午餐 | **南翔馒头店 豫园** | 鲜肉小笼先尝；蟹粉口味兴趣加选，先看菜单价 | 80–160 元 | X02／X10；位置就在老城游览区域，控制等待 |</a:t>
            </a:r>
          </a:p>
          <a:p xmlns:a="http://schemas.openxmlformats.org/drawingml/2006/main">
            <a:r>
              <a:t>| D2 或其他市区一餐 | **上海老饭店／老正兴**，选实际路线旁分店 | 一道红烧肉／排条，配时蔬、汤或米饭；不叠加多道甜浓菜 | 180–300 元 | 上海老饭店为X01候选，含AI整理，证据较弱；老正兴是原清单候选。只在位置合适时选，不当必吃店 |</a:t>
            </a:r>
          </a:p>
          <a:p xmlns:a="http://schemas.openxmlformats.org/drawingml/2006/main">
            <a:r>
              <a:t>| D2 南京东路 | **沈大成 南京东路** | 条头糕、双酿团，各少量；青团看当季在售 | 20–50 元 | X02／X10；外滩回来向西夜逛时买，避免买太多需冷藏 |</a:t>
            </a:r>
          </a:p>
          <a:p xmlns:a="http://schemas.openxmlformats.org/drawingml/2006/main">
            <a:r>
              <a:t>| D2 豫园饮品 | **裕莲茶楼 豫园** | 琥珀奶茶；焦糖可颂蛋挞两人共享可选 | 饮品／点心共 40–90 元 | X10 单篇；奶茶作一杯尝鲜，非上海传统茶俗 |</a:t>
            </a:r>
          </a:p>
          <a:p xmlns:a="http://schemas.openxmlformats.org/drawingml/2006/main">
            <a:r>
              <a:t>| D5 淮海西侧替换线 | **味香斋** | 麻酱拌面，小菜搭配；菜单看现场 | 50–100 元 | X02 评价可参考；只在淮海西侧路线选，不为吃面折返 |</a:t>
            </a:r>
          </a:p>
          <a:p xmlns:a="http://schemas.openxmlformats.org/drawingml/2006/main">
            <a:r>
              <a:t>| D5 淮海西侧替换线 | **光明邨大酒家 淮海中路** | 鲜肉月饼、小份熟食，现吃为主 | 30–80 元 | X01／X02线索；熟食保存条件与返程携带先问店员 |</a:t>
            </a:r>
          </a:p>
          <a:p xmlns:a="http://schemas.openxmlformats.org/drawingml/2006/main">
            <a:r>
              <a:t>| 其他市区简便餐 | **德兴馆**，选路线旁分店 | 葱油拌面、点心等按在售菜单，搭汤或馄饨 | 50–100 元 | X02；不把所有分店都当作豫园附近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**更适合你们的一天吃法：** 早餐酒店附近 → 午餐一笼小笼＋一份汤／点心 → 下午两人各一杯饮品或共享蛋挞 → 晚餐两人一道荤菜、一份时蔬、米饭。小红书“48小时吃17家”类打卡强度不符合这次轻松目标。外滩家宴、李百蟹等在推荐内容中出现，但宣传语较多，本版不按“第一名”排名推荐；喜欢蟹黄面时从正规明码标价、路线附近的店自选一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  <a:p xmlns:a="http://schemas.openxmlformats.org/drawingml/2006/main">
            <a:r>
              <a:t>https://www.chinahighlights.com/shanghai/attraction/yuyuan-garden.htm</a:t>
            </a:r>
          </a:p>
          <a:p xmlns:a="http://schemas.openxmlformats.org/drawingml/2006/main">
            <a:r>
              <a:t>https://www.travelchinaguide.com/attraction/shanghai/nanjing_road.htm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D3｜武康路＋安福路：买手店与奶茶慢逛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**主线：交通大学站 → 武康大楼 → 武康路向北 → 安福路向东 → 乌鲁木齐中路 → 按体力返程。**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![D3路线](路线图/02-武康安福.png)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**10:30–11:15，武康大楼。** 从 A 经老西门上 10 号线至交通大学站，按导航走到武康大楼，约 10–20 分钟。拍照从人行道找角度，路口人流多，不在车道中间停留。</a:t>
            </a:r>
          </a:p>
          <a:p xmlns:a="http://schemas.openxmlformats.org/drawingml/2006/main">
            <a:r>
              <a:t>2. **11:15–12:15，武康路向北。** 看梧桐、老洋房和街景，沿路只进感兴趣的店。武康庭等商业空间可以作为停靠点，具体商户看当天地图。</a:t>
            </a:r>
          </a:p>
          <a:p xmlns:a="http://schemas.openxmlformats.org/drawingml/2006/main">
            <a:r>
              <a:t>3. **12:15–13:15，午餐。** 选安福路或邻近街区的简餐／小馆，避免为某家网红店多排一小时。</a:t>
            </a:r>
          </a:p>
          <a:p xmlns:a="http://schemas.openxmlformats.org/drawingml/2006/main">
            <a:r>
              <a:t>4. **13:15–16:30，安福路与乌鲁木齐中路。** 按“小红书门店停靠线”向东逛，三家中重点选两家，留 2–3 小时；至少安排一次 45–60 分钟茶饮／咖啡休息。</a:t>
            </a:r>
          </a:p>
          <a:p xmlns:a="http://schemas.openxmlformats.org/drawingml/2006/main">
            <a:r>
              <a:t>5. **17:00 前后返程或吃晚饭。** 结束在安福路东侧时，比较到常熟路站：回大世界可乘 1 号线至一大会址·黄陂南路换 14 号线；回老西门可乘 1 号线至陕西南路换 10 号线。若结束在武康路中南段，比较上海图书馆站 10 号线；最终看实时导航，疲劳时直接打车回 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**小红书门店停靠线：** 安福路西侧 **in the PARK（322 号，6 号楼 1 楼）→ RONIN MADE Lounge（275 号 5 弄 1 楼，仅预约确认后加入）→ CSYSeLECTED（234 号 2 楼）→ 乌鲁木齐中路**。不要把“6 号楼”误读为六楼。地址来源与导航入口见第五章；路边过街、弄堂入口按地图与店方指引。RML 若预约时段会造成折返，就略过，优先服装／配饰买手店和坐下休息。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街区主线含到达及离开步行约 **2.5–4 公里**，逛店后总步数可能更多。**武康路与新天地相隔约 4 公里，不作为顺手步行延伸。** 下午购物时段更适合你们；周日若太拥挤，可把 D3 与 D4 对调，但需要重新核对加选场馆的开放日期。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喜欢服装买手店胜过地标时，D3 主线完成后不再增加静安寺或田子坊；D5 可以把新天地短线替换为长乐路／巨鹿路／富民路一小段。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https://www.chinahighlights.com/shanghai/attraction/french-concession.htm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https://www.xiaohongshu.com/explore/6a90107e000000001f005d77</a:t>
            </a:r>
          </a:p>
          <a:p xmlns:a="http://schemas.openxmlformats.org/drawingml/2006/main">
            <a:r>
              <a:t>https://www.xiaohongshu.com/explore/696cd4ab000000000a029ccf</a:t>
            </a:r>
          </a:p>
          <a:p xmlns:a="http://schemas.openxmlformats.org/drawingml/2006/main">
            <a:r>
              <a:t>https://www.xiaohongshu.com/explore/6ac62f1b000000001800788e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购物：把街区当主目的，具体门店作停靠点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街区 | 逛什么 | 留多久 | 与行程关系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**武康路—安福路—乌鲁木齐中路** | 买手店、设计师服装、生活方式、咖啡 | 3–5 小时含午餐休息 | D3 主线 |</a:t>
            </a:r>
          </a:p>
          <a:p xmlns:a="http://schemas.openxmlformats.org/drawingml/2006/main">
            <a:r>
              <a:t>| **长乐路—富民路—巨鹿路局部** | 街边服装、买手／古着店候选 | 1.5–3 小时 | D5 替换项；只选局部 |</a:t>
            </a:r>
          </a:p>
          <a:p xmlns:a="http://schemas.openxmlformats.org/drawingml/2006/main">
            <a:r>
              <a:t>| 淮海中路—新天地 | 商场、品牌店、石库门街区 | 2–3 小时 | D5 主线 |</a:t>
            </a:r>
          </a:p>
          <a:p xmlns:a="http://schemas.openxmlformats.org/drawingml/2006/main">
            <a:r>
              <a:t>| 南京东路 | 经典商业街、百货、老字号食品、潮玩 | 1–2 小时 | D2 夜逛 |</a:t>
            </a:r>
          </a:p>
          <a:p xmlns:a="http://schemas.openxmlformats.org/drawingml/2006/main">
            <a:r>
              <a:t>| 陆家嘴 | 高端商场与城市建筑 | 半日含吃饭、滨江 | D4 主线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**小红书已读到地址的门店线：** D3按安福路向东走，下面三家最多选两家重点逛；D5主线和替换线各加一家候选即可。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店铺 | 笔记给出的地址 | 适合逛什么 | 放哪一天／来源 | 确认事项 |</a:t>
            </a:r>
          </a:p>
          <a:p xmlns:a="http://schemas.openxmlformats.org/drawingml/2006/main">
            <a:r>
              <a:t>|---|---|---|---|---|</a:t>
            </a:r>
          </a:p>
          <a:p xmlns:a="http://schemas.openxmlformats.org/drawingml/2006/main">
            <a:r>
              <a:t>| **in the PARK** | 安福路322号，6号楼1楼 | 服装、生活方式复合空间 | D3安福西侧，X03 | 单篇清单，核对入口、营业；不是六楼 |</a:t>
            </a:r>
          </a:p>
          <a:p xmlns:a="http://schemas.openxmlformats.org/drawingml/2006/main">
            <a:r>
              <a:t>| **RONIN MADE Lounge／RML** | 安福路275号5弄1楼 | 银饰、配饰 | D3中段，X04＋X06 | **提前预约**；两篇均给11–19点，但实际时段店方确认；只要顺路预约 |</a:t>
            </a:r>
          </a:p>
          <a:p xmlns:a="http://schemas.openxmlformats.org/drawingml/2006/main">
            <a:r>
              <a:t>| **CSYSeLECTED** | 安福路234号2楼 | 法式成衣、配饰 | D3东行下一站，X05店方自述 | 核对当天是否营业；不根据宣传词判断品质 |</a:t>
            </a:r>
          </a:p>
          <a:p xmlns:a="http://schemas.openxmlformats.org/drawingml/2006/main">
            <a:r>
              <a:t>| **ALTER** | 马当路245号，新天地L116 | 设计师买手店 | D5新天地主线，X03 | 单篇地址线索，现场导航确认，不专程追店 |</a:t>
            </a:r>
          </a:p>
          <a:p xmlns:a="http://schemas.openxmlformats.org/drawingml/2006/main">
            <a:r>
              <a:t>| **LABELHOOD 蕾虎** | 富民路184号 | 中国设计师品牌 | D5富民路替换线，X03 | 单篇地址线索，不再加在D3末尾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ADE、HUG、LOOKNOW留作扩展检索，没有足够新地址证据，默认逐店路线改用上表。已读到地址与当前在营是两件事；收藏POI后仍需地图近期状态／店方确认。预约、楼层和入口是本版能帮助你们减少白跑的主要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买衣服先看退换规则、试穿与品牌尺码；两人可约定单次逛店 20–30 分钟，试穿集中完成。想集中买潮玩就把南京路某一家店作为目标，不必把所有商场走完。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https://www.xiaohongshu.com/explore/6a90107e000000001f005d77</a:t>
            </a:r>
          </a:p>
          <a:p xmlns:a="http://schemas.openxmlformats.org/drawingml/2006/main">
            <a:r>
              <a:t>https://www.xiaohongshu.com/explore/696cd4ab000000000a029ccf</a:t>
            </a:r>
          </a:p>
          <a:p xmlns:a="http://schemas.openxmlformats.org/drawingml/2006/main">
            <a:r>
              <a:t>https://www.xiaohongshu.com/explore/6ac62f1b000000001800788e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D4｜陆家嘴：商场、摩天楼与滨江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→ 陆家嘴站 → 国金中心商场／正大广场择一 → 上海中心、金茂、环球金融中心外观 → 浦东滨江 → A。**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![D4路线](路线图/03-陆家嘴.png)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时间窗口 | 默认轻松版 | 加选说明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10:30–12:00 | 14 号线到陆家嘴，逛一个商场 | 大世界／豫园上 14 号线可到陆家嘴；老西门可先乘 10 号线至豫园换 14 |</a:t>
            </a:r>
          </a:p>
          <a:p xmlns:a="http://schemas.openxmlformats.org/drawingml/2006/main">
            <a:r>
              <a:t>| 12:00–13:30 | 商场午餐、坐下休息 | 商场餐饮方便，不要求专程找老字号 |</a:t>
            </a:r>
          </a:p>
          <a:p xmlns:a="http://schemas.openxmlformats.org/drawingml/2006/main">
            <a:r>
              <a:t>| 13:30–15:00 | 三件套外观、城市街拍 | 上海中心、金茂、环球金融中心相邻，沿人行道与过街设施走 |</a:t>
            </a:r>
          </a:p>
          <a:p xmlns:a="http://schemas.openxmlformats.org/drawingml/2006/main">
            <a:r>
              <a:t>| 15:30–18:00 | 陆家嘴滨江大道，看浦西外滩 | 先在室内坐一会，再去江边；挑有座位的短段，不必全线走完 |</a:t>
            </a:r>
          </a:p>
          <a:p xmlns:a="http://schemas.openxmlformats.org/drawingml/2006/main">
            <a:r>
              <a:t>| 18:00 后 | 晚餐，地铁回 A | 14 号线返回，避免为了再看浦西夜景额外跨江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**默认不用买观景票。** 外观＋滨江已能完成陆家嘴打卡。想登高则从上海中心／东方明珠／金茂中选一个，替换 13:30–15:30 的地面活动，预留约 1.5–2 小时；先看能见度和官方在售票种。环球金融中心仅列外观，不依据旧攻略安排观光层。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国金中心偏高端购物，正大广场可用于普通逛街和用餐；两个都逛容易重复。朵云书院可作为上海中心内的兴趣加选，但先确认当前预约、入口与消费规则，不能当作无需预约的免费观景台。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全天默认 **2–4 公里**步行。**外滩在浦西，陆家嘴在浦东，不能步行直接跨黄浦江。** 地铁是本方案的默认过江方式。公共轮渡与收费观光游船另行选择，见交通章节。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https://www.travelchinaguide.com/attraction/shanghai/lujiazui.htm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D5｜淮海中路＋新天地：短逛后搬一次酒店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寄存行李 → 淮海中路局部 → 新天地北里 → A 取行李 → B → 吃饭、早休息。**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![D5路线](路线图/04-转场日.png)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**09:30–10:00：** 早餐、办理退房，确认 A 免费或收费寄存。不要带箱子逛街。</a:t>
            </a:r>
          </a:p>
          <a:p xmlns:a="http://schemas.openxmlformats.org/drawingml/2006/main">
            <a:r>
              <a:t>- **10:30–12:30：** 到一大会址·黄陂南路站附近，选择淮海中路靠新天地的一段逛商场与食品店，再慢走至新天地北里。最多安排一个商场和一段石库门街区；想再看买手店，可现场核对 ALTER（马当路245号，新天地L116）后短停，它来自 X03 单篇清单。</a:t>
            </a:r>
          </a:p>
          <a:p xmlns:a="http://schemas.openxmlformats.org/drawingml/2006/main">
            <a:r>
              <a:t>- **12:30–13:30：** 午饭，选新天地附近本帮小馆或点心店。光明邨偏向陕西南路一带，留给淮海路西侧购物替换线，不为吃点心在转场日额外折返。</a:t>
            </a:r>
          </a:p>
          <a:p xmlns:a="http://schemas.openxmlformats.org/drawingml/2006/main">
            <a:r>
              <a:t>- **14:00 左右：** 回 A 取行李。向 B 确认最早入住时间与 D6 接驳／交通。</a:t>
            </a:r>
          </a:p>
          <a:p xmlns:a="http://schemas.openxmlformats.org/drawingml/2006/main">
            <a:r>
              <a:t>- **14:30–16:30：** 去 B，实际车程受地址和路况影响，预留 **60–120 分钟门到门**。</a:t>
            </a:r>
          </a:p>
          <a:p xmlns:a="http://schemas.openxmlformats.org/drawingml/2006/main">
            <a:r>
              <a:t>- **晚上：** 酒店附近吃饭，整理证件、充电宝与乐园小包，早点睡。迪士尼小镇只在 B 交通方便且有体力时短逛；不增加收费入园。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**转场选法：** 两人带行李优先比较网约车；价格不合适时再乘地铁。去康新公路／秀沿路／御桥：大世界／老西门／陆家浜路乘 8 号线至东方体育中心换 11 号线；住豫园可先乘 10 号线至老西门换 8。去川沙：大世界／豫园上 14 号线至陆家嘴换 2 号线；老西门／陆家浜路可 8 号线至人民广场换 2。到川沙后按酒店地址步行或打车。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**购物优先替换线：** 选择常熟路附近 → 长乐路／富民路／巨鹿路局部，慢逛 1.5–2 小时后回 A 取行李。它替换淮海＋新天地，别同一天全部加上。若对新天地打卡执念强，保留主线。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这条替换线可把 **LABELHOOD 蕾虎（富民路184号，X03 单篇地址线索）**作为一个目标，现场确认后进店。D3 已逛过安福路，不需要为了凑买手店数量再走一整片街区。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https://www.xiaohongshu.com/explore/69eb7365000000003502b572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D5｜淮海中路＋新天地：短逛后搬一次酒店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寄存行李 → 淮海中路局部 → 新天地北里 → A 取行李 → B → 吃饭、早休息。**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![D5路线](路线图/04-转场日.png)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**09:30–10:00：** 早餐、办理退房，确认 A 免费或收费寄存。不要带箱子逛街。</a:t>
            </a:r>
          </a:p>
          <a:p xmlns:a="http://schemas.openxmlformats.org/drawingml/2006/main">
            <a:r>
              <a:t>- **10:30–12:30：** 到一大会址·黄陂南路站附近，选择淮海中路靠新天地的一段逛商场与食品店，再慢走至新天地北里。最多安排一个商场和一段石库门街区；想再看买手店，可现场核对 ALTER（马当路245号，新天地L116）后短停，它来自 X03 单篇清单。</a:t>
            </a:r>
          </a:p>
          <a:p xmlns:a="http://schemas.openxmlformats.org/drawingml/2006/main">
            <a:r>
              <a:t>- **12:30–13:30：** 午饭，选新天地附近本帮小馆或点心店。光明邨偏向陕西南路一带，留给淮海路西侧购物替换线，不为吃点心在转场日额外折返。</a:t>
            </a:r>
          </a:p>
          <a:p xmlns:a="http://schemas.openxmlformats.org/drawingml/2006/main">
            <a:r>
              <a:t>- **14:00 左右：** 回 A 取行李。向 B 确认最早入住时间与 D6 接驳／交通。</a:t>
            </a:r>
          </a:p>
          <a:p xmlns:a="http://schemas.openxmlformats.org/drawingml/2006/main">
            <a:r>
              <a:t>- **14:30–16:30：** 去 B，实际车程受地址和路况影响，预留 **60–120 分钟门到门**。</a:t>
            </a:r>
          </a:p>
          <a:p xmlns:a="http://schemas.openxmlformats.org/drawingml/2006/main">
            <a:r>
              <a:t>- **晚上：** 酒店附近吃饭，整理证件、充电宝与乐园小包，早点睡。迪士尼小镇只在 B 交通方便且有体力时短逛；不增加收费入园。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**转场选法：** 两人带行李优先比较网约车；价格不合适时再乘地铁。去康新公路／秀沿路／御桥：大世界／老西门／陆家浜路乘 8 号线至东方体育中心换 11 号线；住豫园可先乘 10 号线至老西门换 8。去川沙：大世界／豫园上 14 号线至陆家嘴换 2 号线；老西门／陆家浜路可 8 号线至人民广场换 2。到川沙后按酒店地址步行或打车。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**购物优先替换线：** 选择常熟路附近 → 长乐路／富民路／巨鹿路局部，慢逛 1.5–2 小时后回 A 取行李。它替换淮海＋新天地，别同一天全部加上。若对新天地打卡执念强，保留主线。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这条替换线可把 **LABELHOOD 蕾虎（富民路184号，X03 单篇地址线索）**作为一个目标，现场确认后进店。D3 已逛过安福路，不需要为了凑买手店数量再走一整片街区。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https://www.shanghaidisneyresort.com/zh-cn/commerce/product?id=ThemePark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2 天：D6 东侧区域，D7 西侧与中部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**D6：探险岛 → 宝藏湾 → 疯狂动物城方向。** 飞越地平线、加勒比海盗、热力追踪，从中定 3 个目标；下午穿插剧场、街景与吃饭。方向表示区域分组，连接小路以官方地图和现场通行为准。夜间演出放这一天，次日可以更从容。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**D7：明日世界 → 梦幻世界 → 玩具总动员与中心区域。** 创极速光轮、一个梦幻世界项目、一个自己喜欢的小项目；购物和角色合照另留时间。补 D6 没完成的一个目标时再调整分区，不为补齐所有项目来回折返。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两天都在园内安排午间休息；只有 B 往返便捷且官方票务允许当日再入园时，才考虑回酒店午睡。住川沙、接驳一天仅少数班次时，回酒店休息可能反而费时。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乐园餐饮与购物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巴波萨烧烤、星露台餐厅、皮诺丘乡村厨房等可在官方 App 查询当天营业、菜单和位置，按自己所在园区选择。餐食预算先按 **两人每天 240–400 元**预留，特殊主题餐与餐饮套餐另外计算。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想买玲娜贝儿、达菲系列或动物城周边，尽量在下午／离园前购买，减少抱着大件物品排队。热门款不保证有货。迪士尼小镇商店的营业与商品范围独立确认，不能保证闭园后仍有充分时间补买。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奶茶：上海街头体验，顺路选 2–3 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**主线优先：D2 豫园裕莲茶楼琥珀奶茶 → D3／D5附近在营沪上阿姨或港式奶茶店择一。** 想专门尝血糯米奶茶，才使用杨浦替换线。小红书“上海必喝”常混合外地品牌、上海开店品牌和本土起源，下面不把三者混为一谈。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检索候选 | 想体验的风格 | 下单建议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**裕莲茶楼（豫园候选）** | 琥珀奶茶，搭焙茶泡芙／蛋挞可选 | X10文字推荐，适合D2顺路；品牌起源尚未由官网证实 |</a:t>
            </a:r>
          </a:p>
          <a:p xmlns:a="http://schemas.openxmlformats.org/drawingml/2006/main">
            <a:r>
              <a:t>| **沪上阿姨** | 鲜果茶、鲜茶／谷物类产品按当季菜单选择 | X09列入上海茶饮清单，官网可见上海公司名称，详细创始背景未读到；选路线旁店，不追限定 |</a:t>
            </a:r>
          </a:p>
          <a:p xmlns:a="http://schemas.openxmlformats.org/drawingml/2006/main">
            <a:r>
              <a:t>| **阿姨奶茶（本溪路272号线索）** | **血糯米奶茶**，先尝小杯／少糖 | X07单篇地址，杨浦；与“沪上阿姨”分开搜索，X08也明确区分，出发前核实营业 |</a:t>
            </a:r>
          </a:p>
          <a:p xmlns:a="http://schemas.openxmlformats.org/drawingml/2006/main">
            <a:r>
              <a:t>| **桂源铺／桂桂茶，各按真实店名搜索** | 港式奶茶／冻柠茶的备选体验 | 搜索结果两种名称混用较多，未核实品牌关系，不当作同一门店或已证更名；只选地图旁在营店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安排在 D2 南京路、D3 安福路附近、D5 淮海路附近，每天最多 1 杯；建议少糖，先确认配料和是否含鲜奶，晚上避免大杯浓茶影响次日睡眠。**阿嬷手作若顺路可以喝，但品牌源于广西，不放入上海本土品牌清单。** 奶茶店的具体在售产品和门店位置用实时小程序／地图查看，这份清单不承诺上海限定款。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**确实想喝阿姨血糯米时：** 把一个市区半日替换为“阿姨奶茶 本溪路272号 → 本溪路短逛”，从A用导航单独往返，预留约半日含交通；它不在武康／安福路，也不在外滩主线。可删去D4商场半日，但这样会增加跨区交通，默认方案仍优先顺路饮品。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https://www.xiaohongshu.com/explore/6a05df83000000003601d7ca</a:t>
            </a:r>
          </a:p>
          <a:p xmlns:a="http://schemas.openxmlformats.org/drawingml/2006/main">
            <a:r>
              <a:t>https://www.xiaohongshu.com/explore/6abd23a30000000001008123</a:t>
            </a:r>
          </a:p>
          <a:p xmlns:a="http://schemas.openxmlformats.org/drawingml/2006/main">
            <a:r>
              <a:t>https://www.xiaohongshu.com/explore/6a3d11cf0000000007024595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小红书餐饮店单：按区域安排，选够一顿就停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下表优先保留上海菜式与实际路线匹配的店。价格一列是你们的**预留预算**，不是店铺菜单报价；具体分店营业、菜单和排队尚未实时验证。来源编号可在[来源索引](攻略来源索引.md)找到。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安排 | 推荐店／分店检索词 | 特色与点单 | 两人预留 | 来源与路线取舍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D1 附近或 D2 豫园 | **大壶春 豫园店**；D1只选酒店旁分店 | 生煎配汤，先点一份分享，留肚子吃下一餐 | 50–90 元 | X02 实游；豫园店可替换南翔，不两家都排队 |</a:t>
            </a:r>
          </a:p>
          <a:p xmlns:a="http://schemas.openxmlformats.org/drawingml/2006/main">
            <a:r>
              <a:t>| D2 豫园午餐 | **南翔馒头店 豫园** | 鲜肉小笼先尝；蟹粉口味兴趣加选，先看菜单价 | 80–160 元 | X02／X10；位置就在老城游览区域，控制等待 |</a:t>
            </a:r>
          </a:p>
          <a:p xmlns:a="http://schemas.openxmlformats.org/drawingml/2006/main">
            <a:r>
              <a:t>| D2 或其他市区一餐 | **上海老饭店／老正兴**，选实际路线旁分店 | 一道红烧肉／排条，配时蔬、汤或米饭；不叠加多道甜浓菜 | 180–300 元 | 上海老饭店为X01候选，含AI整理，证据较弱；老正兴是原清单候选。只在位置合适时选，不当必吃店 |</a:t>
            </a:r>
          </a:p>
          <a:p xmlns:a="http://schemas.openxmlformats.org/drawingml/2006/main">
            <a:r>
              <a:t>| D2 南京东路 | **沈大成 南京东路** | 条头糕、双酿团，各少量；青团看当季在售 | 20–50 元 | X02／X10；外滩回来向西夜逛时买，避免买太多需冷藏 |</a:t>
            </a:r>
          </a:p>
          <a:p xmlns:a="http://schemas.openxmlformats.org/drawingml/2006/main">
            <a:r>
              <a:t>| D2 豫园饮品 | **裕莲茶楼 豫园** | 琥珀奶茶；焦糖可颂蛋挞两人共享可选 | 饮品／点心共 40–90 元 | X10 单篇；奶茶作一杯尝鲜，非上海传统茶俗 |</a:t>
            </a:r>
          </a:p>
          <a:p xmlns:a="http://schemas.openxmlformats.org/drawingml/2006/main">
            <a:r>
              <a:t>| D5 淮海西侧替换线 | **味香斋** | 麻酱拌面，小菜搭配；菜单看现场 | 50–100 元 | X02 评价可参考；只在淮海西侧路线选，不为吃面折返 |</a:t>
            </a:r>
          </a:p>
          <a:p xmlns:a="http://schemas.openxmlformats.org/drawingml/2006/main">
            <a:r>
              <a:t>| D5 淮海西侧替换线 | **光明邨大酒家 淮海中路** | 鲜肉月饼、小份熟食，现吃为主 | 30–80 元 | X01／X02线索；熟食保存条件与返程携带先问店员 |</a:t>
            </a:r>
          </a:p>
          <a:p xmlns:a="http://schemas.openxmlformats.org/drawingml/2006/main">
            <a:r>
              <a:t>| 其他市区简便餐 | **德兴馆**，选路线旁分店 | 葱油拌面、点心等按在售菜单，搭汤或馄饨 | 50–100 元 | X02；不把所有分店都当作豫园附近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**更适合你们的一天吃法：** 早餐酒店附近 → 午餐一笼小笼＋一份汤／点心 → 下午两人各一杯饮品或共享蛋挞 → 晚餐两人一道荤菜、一份时蔬、米饭。小红书“48小时吃17家”类打卡强度不符合这次轻松目标。外滩家宴、李百蟹等在推荐内容中出现，但宣传语较多，本版不按“第一名”排名推荐；喜欢蟹黄面时从正规明码标价、路线附近的店自选一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市区路径：以大世界 A 为示例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起终点 | 建议线路 | 规划门到门时间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A → 豫园片区 | 大世界 14 → 豫园，出站走到目标入口 | 20–40 分钟 |</a:t>
            </a:r>
          </a:p>
          <a:p xmlns:a="http://schemas.openxmlformats.org/drawingml/2006/main">
            <a:r>
              <a:t>| A → 南京东路／外滩 | 8 → 人民广场换 2 → 南京东路，再向东步行；或 14 → 豫园换 10 → 南京东路 | 30–50 分钟 |</a:t>
            </a:r>
          </a:p>
          <a:p xmlns:a="http://schemas.openxmlformats.org/drawingml/2006/main">
            <a:r>
              <a:t>| A → 武康大楼 | 8 → 老西门换 10 → 交通大学，再步行 | 45–65 分钟 |</a:t>
            </a:r>
          </a:p>
          <a:p xmlns:a="http://schemas.openxmlformats.org/drawingml/2006/main">
            <a:r>
              <a:t>| A → 陆家嘴 | 大世界 14 → 陆家嘴 | 25–45 分钟 |</a:t>
            </a:r>
          </a:p>
          <a:p xmlns:a="http://schemas.openxmlformats.org/drawingml/2006/main">
            <a:r>
              <a:t>| A → 淮海／新天地 | 14 → 一大会址·黄陂南路，走局部街区；或按目的地选择 10／13 号线一大会址·新天地站 | 20–40 分钟 |</a:t>
            </a:r>
          </a:p>
          <a:p xmlns:a="http://schemas.openxmlformats.org/drawingml/2006/main">
            <a:r>
              <a:t>| A → 康新公路／秀沿路 B | 8 → 东方体育中心换 11 → 对应酒店站 | 70–110 分钟 |</a:t>
            </a:r>
          </a:p>
          <a:p xmlns:a="http://schemas.openxmlformats.org/drawingml/2006/main">
            <a:r>
              <a:t>| A → 川沙 B | 14 → 陆家嘴换 2 → 川沙，按地址接步行／打车 | 80–120 分钟 |</a:t>
            </a:r>
          </a:p>
          <a:p xmlns:a="http://schemas.openxmlformats.org/drawingml/2006/main">
            <a:r>
              <a:t>| 康新公路／秀沿路 B → 乐园 | 11 → 迪士尼，再到安检区 | 酒店门到安检约 30–60 分钟；不含安检排队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上述线路根据文章资料与线路关系整理，**本次未取得申通地铁官方最新线网正文核验**。出发前在 Metro 大都会或[上海地铁官网](https://www.shmetro.com/)复核线路、出口、首末班与运营调整。车程是估算区间，不是实时导航结果；实际 A／B 地址不同，路径需重新计算。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官方查询入口：[上海地铁线网图](https://www.shmetro.com/u/cms/www/metroViewImg/metroView.jpg) · [车站首末班时刻](https://service.shmetro.com/hcskb/index.htm) · [运营公告](https://service.shmetro.com/yygg/index.htm)。链接来自已读取的官方首页；本次没有逐站取得最新班次，返程不要按旧笔记的末班车个例。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常用站名：大世界 8／14；老西门 8／10；豫园 10／14；陆家浜路 8／9；交通大学 10／11；常熟路 1／7；陆家嘴 2／14。**“一大会址·黄陂南路”与“一大会址·新天地”是不同车站**，按目标商场或街区选择，别只搜“新天地”就随意下车。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六、按假期长度调整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 天 7 晚：最适合迪士尼玩 2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D1–D5 不变；D6、D7 玩乐园；D8 休息返程。**A 4 晚＋B 3 晚，仍然只搬一次。** 示例为 10/23–10/30，乐园 10/28 周三与 10/29 周四。两日门票、有效期和预约按官方实际产品条件选择。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6 天 5 晚：保留重点，删去豫园专门半日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转场日 D4 上午先退房寄存，短逛后回 A 取行李，不带箱子逛街。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 | 安排 | 住宿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D1 | 抵达、入住、附近吃饭 | A 第 1 晚 |</a:t>
            </a:r>
          </a:p>
          <a:p xmlns:a="http://schemas.openxmlformats.org/drawingml/2006/main">
            <a:r>
              <a:t>| D2 | 陆家嘴商场与滨江 → 地铁过江 → 外滩 → 南京东路短逛 | A 第 2 晚 |</a:t>
            </a:r>
          </a:p>
          <a:p xmlns:a="http://schemas.openxmlformats.org/drawingml/2006/main">
            <a:r>
              <a:t>| D3 | 武康路—安福路买手店慢逛 | A 第 3 晚 |</a:t>
            </a:r>
          </a:p>
          <a:p xmlns:a="http://schemas.openxmlformats.org/drawingml/2006/main">
            <a:r>
              <a:t>| D4 | 淮海／新天地短线 → 取行李 → B | B 第 1 晚 |</a:t>
            </a:r>
          </a:p>
          <a:p xmlns:a="http://schemas.openxmlformats.org/drawingml/2006/main">
            <a:r>
              <a:t>| D5 | 迪士尼 1 天 | B 第 2 晚 |</a:t>
            </a:r>
          </a:p>
          <a:p xmlns:a="http://schemas.openxmlformats.org/drawingml/2006/main">
            <a:r>
              <a:t>| D6 | 休息返程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 将陆家嘴与外滩合并，删去登高、园林及额外商场。浦东到浦西乘 2 号线陆家嘴→南京东路，出站步行去外滩；累了直接去外滩，南京路只吃饭不购物。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 天 4 晚：仍可看重点，但城市游会更紧凑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转场日 D3 上午先退房寄存，街区短逛后回 A 取行李，不把中午回酒店退房作为前提。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 | 安排 | 住宿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D1 | 抵达、入住 | A 第 1 晚 |</a:t>
            </a:r>
          </a:p>
          <a:p xmlns:a="http://schemas.openxmlformats.org/drawingml/2006/main">
            <a:r>
              <a:t>| D2 | 陆家嘴 → 地铁过江 → 外滩／南京东路 | A 第 2 晚 |</a:t>
            </a:r>
          </a:p>
          <a:p xmlns:a="http://schemas.openxmlformats.org/drawingml/2006/main">
            <a:r>
              <a:t>| D3 | 武康大楼—安福路短线 → 回 A 取行李 → B | B 第 1 晚 |</a:t>
            </a:r>
          </a:p>
          <a:p xmlns:a="http://schemas.openxmlformats.org/drawingml/2006/main">
            <a:r>
              <a:t>| D4 | 迪士尼 1 天 | B 第 2 晚 |</a:t>
            </a:r>
          </a:p>
          <a:p xmlns:a="http://schemas.openxmlformats.org/drawingml/2006/main">
            <a:r>
              <a:t>| D5 | 休息返程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 2 晚＋B 2 晚**，每家均满足至少两晚。D3 把买手店逛街缩到约 2–3 小时，不再加新天地；D1 晚到或 D5 早航班时，实际可玩时间更少。若只能 5 天且特别讨厌搬行李，可全程市区一家连住 4 晚，D4 接受更长通勤。5 天不建议再塞 2 天迪士尼，否则你们的街区和美食目标会被明显压缩。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八、两人预算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人民币；酒店按一间房、两人合住，不是每人每晚。以下为规划估算，未查询实际航班、客房或门票成交价。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 天 6 晚，迪士尼 1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项目 | 两人合计 | 估算口径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住宿 | 1,200–3,000 | 6 晚 × 200–500／间 |</a:t>
            </a:r>
          </a:p>
          <a:p xmlns:a="http://schemas.openxmlformats.org/drawingml/2006/main">
            <a:r>
              <a:t>| 非乐园日正餐 | 960–1,680 | 6 天 × 两人 160–280；抵离日少吃的餐可转为本帮大餐预算 |</a:t>
            </a:r>
          </a:p>
          <a:p xmlns:a="http://schemas.openxmlformats.org/drawingml/2006/main">
            <a:r>
              <a:t>| 乐园餐饮 | 240–400 | 1 天，两人园内普通餐饮 |</a:t>
            </a:r>
          </a:p>
          <a:p xmlns:a="http://schemas.openxmlformats.org/drawingml/2006/main">
            <a:r>
              <a:t>| 茶饮与咖啡 | 210–490 | 可选预算上限按两人每日30–70留；只喝2–3次可明显更低 |</a:t>
            </a:r>
          </a:p>
          <a:p xmlns:a="http://schemas.openxmlformats.org/drawingml/2006/main">
            <a:r>
              <a:t>| 市内及机场交通 | 400–800 | 地铁为主，转场／机场适量打车 |</a:t>
            </a:r>
          </a:p>
          <a:p xmlns:a="http://schemas.openxmlformats.org/drawingml/2006/main">
            <a:r>
              <a:t>| 可选景点 | 0–600 | 园林／一个登高／游船择选，不需全部购买 |</a:t>
            </a:r>
          </a:p>
          <a:p xmlns:a="http://schemas.openxmlformats.org/drawingml/2006/main">
            <a:r>
              <a:t>| 机动余量 | 300–600 | 雨天打车、寄存及小额临时支出 |</a:t>
            </a:r>
          </a:p>
          <a:p xmlns:a="http://schemas.openxmlformats.org/drawingml/2006/main">
            <a:r>
              <a:t>| **小计** | **3,310–7,570** | **不含乐园门票、成都往返交通及购物**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 **T₁＝实际一日乐园成人票价／人**，**F＝成都往返机票含行李／人**，则两人总预算为：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**3,310–7,570 ＋ 2 × T₁ ＋ 2 × F ＋ 购物／早享／尊享等自选消费。**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想控制费用，最有效的是酒店控制在 300 元左右、非乐园日人均餐饮约 100 元、不重复登高、转场只打一次车。预算充足时优先改善酒店位置和安静程度，再考虑乐园付费加速。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 天 7 晚，迪士尼 2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住宿 1,400–3,500；非乐园餐 960–1,680；园内两天餐 480–800；茶饮 240–560（可选上限，只喝2–3次更低）；交通 450–900；可选景点 0–600；机动 350–700。**基础小计 3,880–8,740 元／两人**，另加 **2 × 单人两天门票费合计 T₂ ＋ 2 × F ＋ 自选消费**。T₂ 可为满足计划的在售两日产品或两张指定日一日票合计，按实际条件择一，不重复加票。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假期 | 晚数 | 两人住宿总预算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5 天 | 4 晚 | 800–2,000 |</a:t>
            </a:r>
          </a:p>
          <a:p xmlns:a="http://schemas.openxmlformats.org/drawingml/2006/main">
            <a:r>
              <a:t>| 6 天 | 5 晚 | 1,000–2,500 |</a:t>
            </a:r>
          </a:p>
          <a:p xmlns:a="http://schemas.openxmlformats.org/drawingml/2006/main">
            <a:r>
              <a:t>| 7 天 | 6 晚 | 1,200–3,000 |</a:t>
            </a:r>
          </a:p>
          <a:p xmlns:a="http://schemas.openxmlformats.org/drawingml/2006/main">
            <a:r>
              <a:t>| 8 天 | 7 晚 | 1,400–3,500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九、下雨、疲劳与行前准备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下雨怎么替换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原安排 | 替换办法 | 注意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D2 外滩 | 南京路商场、附近吃饭；雨小再去江边 | 不为了夜景冒大风大雨；可与 D4 灵活调序 |</a:t>
            </a:r>
          </a:p>
          <a:p xmlns:a="http://schemas.openxmlformats.org/drawingml/2006/main">
            <a:r>
              <a:t>| D3 武康／安福 | 改淮海路或静安商场，等天气转好再走梧桐街区 | 没预约的场馆不当作随到随进 |</a:t>
            </a:r>
          </a:p>
          <a:p xmlns:a="http://schemas.openxmlformats.org/drawingml/2006/main">
            <a:r>
              <a:t>| D4 陆家嘴滨江 | 商场延长休息；水族馆可选，或另选上博东馆半日 | 博物馆／水族馆需另查开放、预约和在售票种；不要两个都加 |</a:t>
            </a:r>
          </a:p>
          <a:p xmlns:a="http://schemas.openxmlformats.org/drawingml/2006/main">
            <a:r>
              <a:t>| D5 转场 | 缩短购物，提前入住 B | 行李不要拖进拥挤商场 |</a:t>
            </a:r>
          </a:p>
          <a:p xmlns:a="http://schemas.openxmlformats.org/drawingml/2006/main">
            <a:r>
              <a:t>| 迪士尼 | 看 App 临时调整，优先当日在营室内项目 | 室内项目也可能暂停，夜间演出不保证举办；票务退改看购买条款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走累了怎么删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D2：先删外白渡桥延伸，再删收费园林；保留外滩＋南京路吃饭。</a:t>
            </a:r>
          </a:p>
          <a:p xmlns:a="http://schemas.openxmlformats.org/drawingml/2006/main">
            <a:r>
              <a:t>- D3：走完武康大楼与一段安福路就够，打车回酒店。</a:t>
            </a:r>
          </a:p>
          <a:p xmlns:a="http://schemas.openxmlformats.org/drawingml/2006/main">
            <a:r>
              <a:t>- D4：只逛一个商场＋滨江短段；登高改下次。</a:t>
            </a:r>
          </a:p>
          <a:p xmlns:a="http://schemas.openxmlformats.org/drawingml/2006/main">
            <a:r>
              <a:t>- D5：只看新天地北里、吃午饭，然后转场。</a:t>
            </a:r>
          </a:p>
          <a:p xmlns:a="http://schemas.openxmlformats.org/drawingml/2006/main">
            <a:r>
              <a:t>- D6：减少第 4、5 个项目，保留最喜欢的体验与坐下休息。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出发前 7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想比较早鸟票请提前到**入园日前至少10天**查看，别等出发前7天才研究；示例10/28入园，尽早在10/18前核对产品实际条件。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确定 7 天一日乐园或 8 天两日乐园，按实际可售日期确认票务，再落实机票。</a:t>
            </a:r>
          </a:p>
          <a:p xmlns:a="http://schemas.openxmlformats.org/drawingml/2006/main">
            <a:r>
              <a:t>- [ ] A／B 每家连住至少两晚；核对整段房价、取消条件、早餐和行李寄存。</a:t>
            </a:r>
          </a:p>
          <a:p xmlns:a="http://schemas.openxmlformats.org/drawingml/2006/main">
            <a:r>
              <a:t>- [ ] B 接驳或地铁交通落实，保存集合点和联系方式。</a:t>
            </a:r>
          </a:p>
          <a:p xmlns:a="http://schemas.openxmlformats.org/drawingml/2006/main">
            <a:r>
              <a:t>- [ ] 从成都 TFU／CTU 和上海 SHA／PVG 四个机场组合比较含行李总价。</a:t>
            </a:r>
          </a:p>
          <a:p xmlns:a="http://schemas.openxmlformats.org/drawingml/2006/main">
            <a:r>
              <a:t>- [ ] 官方 App／官网确认迪士尼证件、票务、预约、禁带物与项目状态。</a:t>
            </a:r>
          </a:p>
          <a:p xmlns:a="http://schemas.openxmlformats.org/drawingml/2006/main">
            <a:r>
              <a:t>- [ ] 若要园林、登高或博物馆，确认当期官方开放与预约；不叠加太多付费项目。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出发前 1–3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看上海天气预报，准备长袖、薄针织／卫衣、防风外套、折叠伞和好走的鞋。气温不是固定值，不把十月均温当预报。</a:t>
            </a:r>
          </a:p>
          <a:p xmlns:a="http://schemas.openxmlformats.org/drawingml/2006/main">
            <a:r>
              <a:t>- [ ] 不以满街金黄梧桐为预期，十月下旬叶色受年份和天气影响。</a:t>
            </a:r>
          </a:p>
          <a:p xmlns:a="http://schemas.openxmlformats.org/drawingml/2006/main">
            <a:r>
              <a:t>- [ ] 更新乐园开闭园、演出和交通末班；查看酒店夜间接回安排。</a:t>
            </a:r>
          </a:p>
          <a:p xmlns:a="http://schemas.openxmlformats.org/drawingml/2006/main">
            <a:r>
              <a:t>- [ ] 在地图核实买手店与餐饮分店的近期营业和准确地址，保存两家就近备选。</a:t>
            </a:r>
          </a:p>
          <a:p xmlns:a="http://schemas.openxmlformats.org/drawingml/2006/main">
            <a:r>
              <a:t>- [ ] 准备证件、充电宝、常用药与少量现金；开通可用的上海乘车码。机场对充电宝的携带要求按航司／机场当前规定确认。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完整来源索引，审读日期2026-10-13：</a:t>
            </a:r>
          </a:p>
          <a:p xmlns:a="http://schemas.openxmlformats.org/drawingml/2006/main">
            <a:r>
              <a:t># 上海攻略来源索引与审读记录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审读日期：**2026-10-13**。实际读取 **140 篇去重候选核心正文**；保守纳入 **113 篇实质攻略／旅行实用指南**，排除 **27 篇**。每篇原始ID可在 research/selected-review.json、read-组-批次.txt 和 final-reviews.json 中追溯。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本版另外补充10篇小红书笔记文字审读**，见X01–X10；包含综合攻略、实游、店方、推广式探店、短体验与编辑清单。它们单独记录，不将10篇全部追加到113篇实质攻略计数。浏览器实际读取文字正文；未逐张读所有图集，视频只看到片段／截图的候选不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计数方法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计入有实际路线、游览取舍、时间分配、住宿区域比较、交通或季节准备的实质正文；包括编辑型旅行指南、博客与少量游记。</a:t>
            </a:r>
          </a:p>
          <a:p xmlns:a="http://schemas.openxmlformats.org/drawingml/2006/main">
            <a:r>
              <a:t>- 首页、分类空壳、导航壳、纯票务／套餐销售、百科清单、严重核心事实错误、明显无关时段／专项材料不计。</a:t>
            </a:r>
          </a:p>
          <a:p xmlns:a="http://schemas.openxmlformats.org/drawingml/2006/main">
            <a:r>
              <a:t>- 正文中的导航、广告和推荐尾部先清理；实际读核心正文，再记录采用／排除理由，不用搜索摘要或标题代替阅读。</a:t>
            </a:r>
          </a:p>
          <a:p xmlns:a="http://schemas.openxmlformats.org/drawingml/2006/main">
            <a:r>
              <a:t>- 相同URL、相同核心正文、前期已识别的语言翻译重复不重复计数。多个不同文章介绍同一景点仍分别记录，但不当作多方独立佐证。</a:t>
            </a:r>
          </a:p>
          <a:p xmlns:a="http://schemas.openxmlformats.org/drawingml/2006/main">
            <a:r>
              <a:t>- “纳入”包括用来判断备选去处是否适合的指南，不代表推荐把所有景点排进主行程。</a:t>
            </a:r>
          </a:p>
          <a:p xmlns:a="http://schemas.openxmlformats.org/drawingml/2006/main">
            <a:r>
              <a:t>- 发布／更新日期是页面自述；未出现则记“正文未见明确日期”。更新标签不证明全文票价、商户、展览或规则有效。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**来源局限：** 编辑型指南集中于 TravelChinaGuide 和 China Highlights。不是 113 位独立游客实游，也没有用数量投票决定路线。只采用区域关系、节奏和取舍；动态运营、票价、门店与相互冲突规则另查官方。资料发布时间从2019到2026均有，旧文仅保留仍有价值的地理／体验建议。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平台分布（有效篇数）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平台 | 篇数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travelchinaguide.com | 84 |</a:t>
            </a:r>
          </a:p>
          <a:p xmlns:a="http://schemas.openxmlformats.org/drawingml/2006/main">
            <a:r>
              <a:t>| chinahighlights.com | 13 |</a:t>
            </a:r>
          </a:p>
          <a:p xmlns:a="http://schemas.openxmlformats.org/drawingml/2006/main">
            <a:r>
              <a:t>| loongwander.com | 4 |</a:t>
            </a:r>
          </a:p>
          <a:p xmlns:a="http://schemas.openxmlformats.org/drawingml/2006/main">
            <a:r>
              <a:t>| gotravellingworld.com | 3 |</a:t>
            </a:r>
          </a:p>
          <a:p xmlns:a="http://schemas.openxmlformats.org/drawingml/2006/main">
            <a:r>
              <a:t>| vivianexplore.tw | 2 |</a:t>
            </a:r>
          </a:p>
          <a:p xmlns:a="http://schemas.openxmlformats.org/drawingml/2006/main">
            <a:r>
              <a:t>| gochinaquest.com | 1 |</a:t>
            </a:r>
          </a:p>
          <a:p xmlns:a="http://schemas.openxmlformats.org/drawingml/2006/main">
            <a:r>
              <a:t>| gochinatravel.org | 1 |</a:t>
            </a:r>
          </a:p>
          <a:p xmlns:a="http://schemas.openxmlformats.org/drawingml/2006/main">
            <a:r>
              <a:t>| chinawondersguide.com | 1 |</a:t>
            </a:r>
          </a:p>
          <a:p xmlns:a="http://schemas.openxmlformats.org/drawingml/2006/main">
            <a:r>
              <a:t>| studycli.org | 1 |</a:t>
            </a:r>
          </a:p>
          <a:p xmlns:a="http://schemas.openxmlformats.org/drawingml/2006/main">
            <a:r>
              <a:t>| goasia.cc | 1 |</a:t>
            </a:r>
          </a:p>
          <a:p xmlns:a="http://schemas.openxmlformats.org/drawingml/2006/main">
            <a:r>
              <a:t>| sohu.com | 1 |</a:t>
            </a:r>
          </a:p>
          <a:p xmlns:a="http://schemas.openxmlformats.org/drawingml/2006/main">
            <a:r>
              <a:t>| zhihu.com | 1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纳入的实质指南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点击标题可访问原文。外部页面可能改版或失效；本次缓存与审读是2026-10-13的状态。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序号／原ID | 文章与平台 | 页面自述日期 | 采用与取舍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A001／3 | [【2026上海迪士尼攻略】不買快速通關也能刷完！門票/必玩設施/親子實戰心得](https://vivianexplore.tw/shanghai-disneyland/)&lt;br&gt;vivianexplore.tw | 2026-10-01 发布；2026-10-06 更新 | 一日与两日体验比较、午间休息和App查队列有用；早享省时保证、身高规则、蜘蛛人测试进度和园区方位不采用。 |</a:t>
            </a:r>
          </a:p>
          <a:p xmlns:a="http://schemas.openxmlformats.org/drawingml/2006/main">
            <a:r>
              <a:t>| A002／4 | [【上海迪士尼樂園攻略】建議大家收好這份上海迪士尼2026遊玩全攻略 - Go Travelling World](https://gotravellingworld.com/shanghai-disneyland-guide/)&lt;br&gt;gotravellingworld.com | 2026-08-21 | App查队列、分区与两日减少赶项目压力；动物城开幕年份、早享及具体酒店权益未核不采用。 |</a:t>
            </a:r>
          </a:p>
          <a:p xmlns:a="http://schemas.openxmlformats.org/drawingml/2006/main">
            <a:r>
              <a:t>| A003／5 | [2026年上海外滩旅游指南：热门景点、步行路线、夜景及实用贴士](https://gochinaquest.com/zh-CN/%E5%A4%96%E6%BB%A9%E4%B8%8A%E6%B5%B7%E6%8C%87%E5%8D%97/)&lt;br&gt;gochinaquest.com | 正文未见明确日期 | 外滩南京东路到黄浦公园外白渡桥步行线可参考；机翻错误和分钟数不直接采用。 |</a:t>
            </a:r>
          </a:p>
          <a:p xmlns:a="http://schemas.openxmlformats.org/drawingml/2006/main">
            <a:r>
              <a:t>| A004／6 | [陆家嘴 - 上海金融中心摩天大楼天际线 - LoongWander](https://www.loongwander.com/zh-CN/article/lujiazui)&lt;br&gt;loongwander.com | 正文未见明确日期 | 滨江商场可作陆家嘴轻松半日，原文一天登三楼过密，价格灯光出口不采用。 |</a:t>
            </a:r>
          </a:p>
          <a:p xmlns:a="http://schemas.openxmlformats.org/drawingml/2006/main">
            <a:r>
              <a:t>| A005／8 | [上海豫园攻略 2026：门票、开放时间、旺季与路线](https://www.gochinatravel.org/zh/shanghai/yu-garden)&lt;br&gt;gochinatravel.org | 2026-08-08 | 区分收费园林与商城公共区，先园林后九曲桥和小吃；开放与限流看官方。 |</a:t>
            </a:r>
          </a:p>
          <a:p xmlns:a="http://schemas.openxmlformats.org/drawingml/2006/main">
            <a:r>
              <a:t>| A006／9 | [上海南京东路和外滩：热门景点与购物指南](https://chinawondersguide.com/zh-Hans/the-bund-shanghai-nanjing-east-road/)&lt;br&gt;chinawondersguide.com | 正文未见明确日期 | 南京东路购物、餐饮、时段和交通构成指南，支持与外滩同日，未提供可核分店。 |</a:t>
            </a:r>
          </a:p>
          <a:p xmlns:a="http://schemas.openxmlformats.org/drawingml/2006/main">
            <a:r>
              <a:t>| A007／15 | [The Bund, Shanghai: Maps, How to Visit, and What to See](https://www.chinahighlights.com/shanghai/attraction/the-bund.htm)&lt;br&gt;chinahighlights.com | 2026-08-31 更新 | 主外滩优先、日落前到达，北外滩为拍照空间替换。 |</a:t>
            </a:r>
          </a:p>
          <a:p xmlns:a="http://schemas.openxmlformats.org/drawingml/2006/main">
            <a:r>
              <a:t>| A008／16 | [The Former French Concession, Shanghai: Is It Worth Visiting](https://www.chinahighlights.com/shanghai/attraction/french-concession.htm)&lt;br&gt;chinahighlights.com | 正文未见明确日期 | 采用武康路向北接安福路的局部慢走、咖啡休息及不步行硬接新天地；私宅不当作开放场馆。 |</a:t>
            </a:r>
          </a:p>
          <a:p xmlns:a="http://schemas.openxmlformats.org/drawingml/2006/main">
            <a:r>
              <a:t>| A009／17 | [Shanghai Yu Garden: Tips for What to See &amp; How to Visit](https://www.chinahighlights.com/shanghai/attraction/yuyuan-garden.htm)&lt;br&gt;chinahighlights.com | 2026-09-10 | 园林和商城用餐分别留时间，名店排队过长换顺路小吃；道观免费和夜游票价断言不采用。 |</a:t>
            </a:r>
          </a:p>
          <a:p xmlns:a="http://schemas.openxmlformats.org/drawingml/2006/main">
            <a:r>
              <a:t>| A010／18 | [Shanghai Jing'an Temple Travel Guide: What to See and Do](https://www.chinahighlights.com/shanghai/attraction/jing-an-temple.htm)&lt;br&gt;chinahighlights.com | 2026-09-22 更新 | 静安寺外观或入内按兴趣选，外观可短逛；门票、亮灯需另查。 |</a:t>
            </a:r>
          </a:p>
          <a:p xmlns:a="http://schemas.openxmlformats.org/drawingml/2006/main">
            <a:r>
              <a:t>| A011／19 | [Jade Buddha Temple, Shanghai: What to See and How to Visit](https://www.chinahighlights.com/shanghai/attraction/jade-buddha-temple.htm)&lt;br&gt;chinahighlights.com | 2026-09-24 更新 | 玉佛寺为宗教兴趣选择，不和静安寺都去；法租界组合不代表步行相邻。 |</a:t>
            </a:r>
          </a:p>
          <a:p xmlns:a="http://schemas.openxmlformats.org/drawingml/2006/main">
            <a:r>
              <a:t>| A012／20 | [Zhujiajiao Water Town: How to See Its Less Touristy Side](https://www.chinahighlights.com/shanghai/attraction/zhujiajiao-water-town.htm)&lt;br&gt;chinahighlights.com | 2026-09-10 更新 | 朱家角至少半日、桥巷与茶馆分段休息；本次为保留迪士尼和购物不新增郊游，票价与船班不采用。 |</a:t>
            </a:r>
          </a:p>
          <a:p xmlns:a="http://schemas.openxmlformats.org/drawingml/2006/main">
            <a:r>
              <a:t>| A013／21 | [How to Plan a Trip to Shanghai Without Rushing Between Spots](https://www.chinahighlights.com/shanghai/shanghai-trip-planner.htm)&lt;br&gt;chinahighlights.com | 2026-07-20 | 黄浦经典、武康安福、浦东分日减少跨区奔波；压缩全步行与酒店价格不采用。 |</a:t>
            </a:r>
          </a:p>
          <a:p xmlns:a="http://schemas.openxmlformats.org/drawingml/2006/main">
            <a:r>
              <a:t>| A014／22 | [Shanghai Itinerary Planning Guide: How Many Days Do You Need](https://www.chinahighlights.com/shanghai/itinerary-ideas.htm)&lt;br&gt;chinahighlights.com | 2026-08-06 更新 | 外滩老城、梧桐街区、浦东各留时间，避免一日串四区没有休息。 |</a:t>
            </a:r>
          </a:p>
          <a:p xmlns:a="http://schemas.openxmlformats.org/drawingml/2006/main">
            <a:r>
              <a:t>| A015／23 | [Best/Worst Times to Visit Shanghai 2026: Tips for All Months](https://www.chinahighlights.com/shanghai/best-time-to-visit.htm)&lt;br&gt;chinahighlights.com | 2026-04-13 更新 | 秋季城市游可行，十月下旬不承诺明显黄叶，实际天气临行查询。 |</a:t>
            </a:r>
          </a:p>
          <a:p xmlns:a="http://schemas.openxmlformats.org/drawingml/2006/main">
            <a:r>
              <a:t>| A016／24 | [Top Things to Do in Shanghai: Beyond the Landmarks](https://www.chinahighlights.com/shanghai/top-things-to-do.htm)&lt;br&gt;chinahighlights.com | 2026-08-06 更新 | 按历史街区、日常生活和浦东分区体验，登高选一座；固定夜景时段与科技馆运营等未核信息不采用。 |</a:t>
            </a:r>
          </a:p>
          <a:p xmlns:a="http://schemas.openxmlformats.org/drawingml/2006/main">
            <a:r>
              <a:t>| A017／26 | [The Complete Guide to Your Layover in Shanghai](https://www.chinahighlights.com/shanghai/layover-guide.htm)&lt;br&gt;chinahighlights.com | 2026-08-06 | 抵离日留机场、行李和入住缓冲；不采用海外中转游客精确流程时间。 |</a:t>
            </a:r>
          </a:p>
          <a:p xmlns:a="http://schemas.openxmlformats.org/drawingml/2006/main">
            <a:r>
              <a:t>| A018／36 | [Shanghai Weather in October 2026: Mild, Sunny, Golden Week](https://www.chinahighlights.com/shanghai/weather/october.htm)&lt;br&gt;chinahighlights.com | 2026-05-08 更新 | 长袖、防风外套、伞有用；无需担心台风的绝对话不采用，万圣举例非2026。 |</a:t>
            </a:r>
          </a:p>
          <a:p xmlns:a="http://schemas.openxmlformats.org/drawingml/2006/main">
            <a:r>
              <a:t>| A019／44 | [Top 10 Things to Do in Shanghai, Best Places to Go](https://www.travelchinaguide.com/package/shanghai/top-10-things-to-do.htm)&lt;br&gt;travelchinaguide.com | 2026-05-26 更新 | 知名地标、老城美食与购物提供选择框架；南京路与外滩范围错误不采用，项目不全塞同日。 |</a:t>
            </a:r>
          </a:p>
          <a:p xmlns:a="http://schemas.openxmlformats.org/drawingml/2006/main">
            <a:r>
              <a:t>| A020／45 | [Shanghai Transportation: Air, Train, Metro, Bus, Taxi, Ferry](https://www.travelchinaguide.com/cityguides/shanghai/getting-there.htm)&lt;br&gt;travelchinaguide.com | 2026-09-17 | 步行加地铁、搬行李和疲劳时打车；1号线连虹桥及2号线连上海站南站的错误例子剔除。 |</a:t>
            </a:r>
          </a:p>
          <a:p xmlns:a="http://schemas.openxmlformats.org/drawingml/2006/main">
            <a:r>
              <a:t>| A021／46 | [Shanghai Weather 2026: Monthly Climate &amp; 15-Day Forecast](https://www.travelchinaguide.com/climate/shanghai.htm)&lt;br&gt;travelchinaguide.com | 正文未见明确日期 | 四季湿度及穿衣建议支持分层准备；均值不是旅途天气预报。 |</a:t>
            </a:r>
          </a:p>
          <a:p xmlns:a="http://schemas.openxmlformats.org/drawingml/2006/main">
            <a:r>
              <a:t>| A022／47 | [Shanghai Travel Tips, Useful Tips to Know Before Going](https://www.travelchinaguide.com/cityguides/shanghai/fast-facts.htm)&lt;br&gt;travelchinaguide.com | 正文未见明确日期 | 支付、纸巾、公共设施准备为实用旅游内容；海外签证银行卡与本次国内游关系弱。 |</a:t>
            </a:r>
          </a:p>
          <a:p xmlns:a="http://schemas.openxmlformats.org/drawingml/2006/main">
            <a:r>
              <a:t>| A023／49 | [Shopping in Shanghai: Where &amp; What to Buy, Best Souvenirs](https://www.travelchinaguide.com/cityguides/shanghai/shopping.htm)&lt;br&gt;travelchinaguide.com | 正文未见明确日期 | 南京路、淮海路、新天地按购物目的区分；定制市场不列必去，品牌商户未核。 |</a:t>
            </a:r>
          </a:p>
          <a:p xmlns:a="http://schemas.openxmlformats.org/drawingml/2006/main">
            <a:r>
              <a:t>| A024／50 | [Shanghai Nightlife, Entertainment: Xin Tian Di, Hengshan Road Bar Street](https://www.travelchinaguide.com/cityguides/shanghai/nightlife.htm)&lt;br&gt;travelchinaguide.com | 2026-03-03 更新 | 晚间外滩、南京路、新天地散步用餐有用；ARK、Babyface旧店及价格不作2026营业。 |</a:t>
            </a:r>
          </a:p>
          <a:p xmlns:a="http://schemas.openxmlformats.org/drawingml/2006/main">
            <a:r>
              <a:t>| A025／51 | [The Bund Shanghai, Waitan: Waterfront Landmark of Shanghai](https://www.travelchinaguide.com/attraction/shanghai/bund.htm)&lt;br&gt;travelchinaguide.com | 正文未见明确日期 | 南京路外滩顺路、滨江散步可参考，公共轮渡隧道与游船分清，固定时刻不采用。 |</a:t>
            </a:r>
          </a:p>
          <a:p xmlns:a="http://schemas.openxmlformats.org/drawingml/2006/main">
            <a:r>
              <a:t>| A026／52 | [Nanjing Road, Shanghai - China's Premier Shopping Pedestrian Street](https://www.travelchinaguide.com/attraction/shanghai/nanjing_road.htm)&lt;br&gt;travelchinaguide.com | 2026-07-24 更新 | 南京东路与外滩同区、老字号食品顺路尝鲜，南京西路另属商圈；旧店位置与观光车时刻不采用。 |</a:t>
            </a:r>
          </a:p>
          <a:p xmlns:a="http://schemas.openxmlformats.org/drawingml/2006/main">
            <a:r>
              <a:t>| A027／53 | [Yu Garden, Shanghai Yuyuan Garden Opening Hours, Ticket](https://www.travelchinaguide.com/attraction/shanghai/yuyuan_garden.htm)&lt;br&gt;travelchinaguide.com | 正文未见明确日期 | 园林慢游约两小时，九曲桥商城另留时间；固定出口和票价不作实时依据。 |</a:t>
            </a:r>
          </a:p>
          <a:p xmlns:a="http://schemas.openxmlformats.org/drawingml/2006/main">
            <a:r>
              <a:t>| A028／54 | [Shanghai Museum East, Top Museum of Ancient Chinese Art](https://www.travelchinaguide.com/attraction/shanghai/museum.htm)&lt;br&gt;travelchinaguide.com | 正文未见明确日期 | 上博东馆重点展厅、2–4小时安排支持独立雨天半日；个人预约与开放官方核验。 |</a:t>
            </a:r>
          </a:p>
          <a:p xmlns:a="http://schemas.openxmlformats.org/drawingml/2006/main">
            <a:r>
              <a:t>| A029／55 | [Shanghai Tower: Tallest Building in China &amp; 3nd in the World](https://www.travelchinaguide.com/attraction/shanghai/tower.htm)&lt;br&gt;travelchinaguide.com | 2026-07-24 更新 | 上海中心可选登高，朵云书院另核预约，票价入口消费不保证。 |</a:t>
            </a:r>
          </a:p>
          <a:p xmlns:a="http://schemas.openxmlformats.org/drawingml/2006/main">
            <a:r>
              <a:t>| A030／56 | [Zhujiajiao Water Town, Shanghai: Things to Do, Food, Map](https://www.travelchinaguide.com/attraction/shanghai/zhujiajiao.htm)&lt;br&gt;travelchinaguide.com | 正文未见明确日期 | 古镇桥巷、园林、小吃和半日交通构成实质攻略；本次保留为替换，船票和公交实时状态未核。 |</a:t>
            </a:r>
          </a:p>
          <a:p xmlns:a="http://schemas.openxmlformats.org/drawingml/2006/main">
            <a:r>
              <a:t>| A031／57 | [8 Unique Things to Do in Shanghai Only: Huangpu River Night Cruise…](https://www.travelchinaguide.com/package/unique-things-to-do-in-shanghai.htm)&lt;br&gt;travelchinaguide.com | 2026-06-29 | 外滩建筑、石库门和一个登高呈现城市层次；赛事名单、酒吧楼层、磁悬浮极速等旧内容不采用。 |</a:t>
            </a:r>
          </a:p>
          <a:p xmlns:a="http://schemas.openxmlformats.org/drawingml/2006/main">
            <a:r>
              <a:t>| A032／58 | [Shanghai Pudong International Airport: Airlines, PVG Terminal 1, 2](https://www.travelchinaguide.com/cityguides/shanghai/pudong-airport.htm)&lt;br&gt;travelchinaguide.com | 2026-03-27 更新 | 机场行李航站楼和交通支持留缓冲；广兰路旧换编组信息与出租车价格剔除。 |</a:t>
            </a:r>
          </a:p>
          <a:p xmlns:a="http://schemas.openxmlformats.org/drawingml/2006/main">
            <a:r>
              <a:t>| A033／59 | [Shanghai Hongqiao Airport: Terminals of SHA, Service, Airlines](https://www.travelchinaguide.com/cityguides/shanghai/hongqiao-airport.htm)&lt;br&gt;travelchinaguide.com | 2025-08-14 更新 | 虹桥T1、T2与火车站须区分，T1不套T2步行，航站楼末班临行核验。 |</a:t>
            </a:r>
          </a:p>
          <a:p xmlns:a="http://schemas.openxmlformats.org/drawingml/2006/main">
            <a:r>
              <a:t>| A034／60 | [Shanghai Metro: Stations, Subway Lines in Operation](https://www.travelchinaguide.com/cityguides/shanghai/transportation/subway.htm)&lt;br&gt;travelchinaguide.com | 2026-04-23 更新 | 地铁线路与站点关系支持路径设计；总线路数量、机场及延时运营说法不直接采用，未替代官方最新线网。 |</a:t>
            </a:r>
          </a:p>
          <a:p xmlns:a="http://schemas.openxmlformats.org/drawingml/2006/main">
            <a:r>
              <a:t>| A035／62 | [Shanghai Bus: City Bus Routes, Stations, Schedule, Tram, How to Pay](https://www.travelchinaguide.com/cityguides/shanghai/transportation/town-bus.htm)&lt;br&gt;travelchinaguide.com | 2025-08-14 更新 | 公交为地铁补充，类别与支付准备可参考，具体班次以实时为准。 |</a:t>
            </a:r>
          </a:p>
          <a:p xmlns:a="http://schemas.openxmlformats.org/drawingml/2006/main">
            <a:r>
              <a:t>| A036／63 | [Shanghai Ferry: Sightseeing Ships, Huangpu River Ferry, Ports](https://www.travelchinaguide.com/cityguides/shanghai/transportation/ferry.htm)&lt;br&gt;travelchinaguide.com | 2025-08-14 更新 | 公共轮渡为交通、游船为体验，天气停航保留地铁替代。 |</a:t>
            </a:r>
          </a:p>
          <a:p xmlns:a="http://schemas.openxmlformats.org/drawingml/2006/main">
            <a:r>
              <a:t>| A037／66 | [Huagpu District, Shanghai: Traditional City Center](https://www.travelchinaguide.com/cityguides/shanghai/huangpu-district.htm)&lt;br&gt;travelchinaguide.com | 2025-08-14 | 黄浦核心分两三日、云南南路可顺路找吃饭；旧区名、遗漏14号线与地址不作现状依据。 |</a:t>
            </a:r>
          </a:p>
          <a:p xmlns:a="http://schemas.openxmlformats.org/drawingml/2006/main">
            <a:r>
              <a:t>| A038／67 | [Jing’an District, Shanghai: One of the Core Urban Areas](https://www.travelchinaguide.com/cityguides/shanghai/jing-an-district.htm)&lt;br&gt;travelchinaguide.com | 2025-08-14 更新 | 静安寺、自然博物馆、吴江路适合局部慢逛，老点心店地址未核，日式拉面不当上海特色。 |</a:t>
            </a:r>
          </a:p>
          <a:p xmlns:a="http://schemas.openxmlformats.org/drawingml/2006/main">
            <a:r>
              <a:t>| A039／68 | [Best Time to Visit Shanghai: March-May, October-November](https://www.travelchinaguide.com/package/shanghai/best-time-to-visit.htm)&lt;br&gt;travelchinaguide.com | 正文未见明确日期 | 十月长假后适合步行，均值和客流经验不能保证迪士尼少排或晴天。 |</a:t>
            </a:r>
          </a:p>
          <a:p xmlns:a="http://schemas.openxmlformats.org/drawingml/2006/main">
            <a:r>
              <a:t>| A040／78 | [Shanghai Weather in October 2026: Sunny, Mild Temperature](https://www.travelchinaguide.com/cityguides/shanghai/weather-october.htm)&lt;br&gt;travelchinaguide.com | 正文未见明确日期 | 十月下旬分层穿衣、外滩黄昏安排可参考；气候均值不当预报，固定夜游、万圣演出和金黄叶色不承诺。 |</a:t>
            </a:r>
          </a:p>
          <a:p xmlns:a="http://schemas.openxmlformats.org/drawingml/2006/main">
            <a:r>
              <a:t>| A041／91 | [2026上海住宿推薦》10間高CP值飯店：交通方便、景觀絕美！南京路/外灘全攻略](https://vivianexplore.tw/shanghai-hotels/)&lt;br&gt;vivianexplore.tw | 2026-07-12 发布；2026-10-05 更新 | 实质住宿区域比较含联盟链接，非纯销售页；酒店价、接驳、早享和半日票重新核验。 |</a:t>
            </a:r>
          </a:p>
          <a:p xmlns:a="http://schemas.openxmlformats.org/drawingml/2006/main">
            <a:r>
              <a:t>| A042／104 | [【上海杜莎夫人蠟像館】在杜莎夫人蠟像館，我感受到了明星們的魅力與風采! - Go Travelling World](https://gotravellingworld.com/madame-tussauds-shanghai/)&lt;br&gt;gotravellingworld.com | 2026-08-24 | 人民广场蜡像馆为合影兴趣者的雨天替换，票价展品开放未核，不列必去。 |</a:t>
            </a:r>
          </a:p>
          <a:p xmlns:a="http://schemas.openxmlformats.org/drawingml/2006/main">
            <a:r>
              <a:t>| A043／106 | [【上海城隍廟+豫園遊玩攻略】含到達交通、遊玩路線、美食和購物等 - Go Travelling World](https://gotravellingworld.com/shanghai-city-god-temple-travel-guide/)&lt;br&gt;gotravellingworld.com | 2026-09-11 | 园林、商城与道观分开，老城半日，春节灯会不套十月。 |</a:t>
            </a:r>
          </a:p>
          <a:p xmlns:a="http://schemas.openxmlformats.org/drawingml/2006/main">
            <a:r>
              <a:t>| A044／114 | [上海大自然野生昆虫馆 - 活体昆虫生态展示馆 - LoongWander](https://www.loongwander.com/zh-CN/article/shanghai-nature-wild-insect-museum)&lt;br&gt;loongwander.com | 正文未见明确日期 | 陆家嘴科普兴趣替换，不叠加多个场馆；楼层路线矛盾、迁址与运营另核。 |</a:t>
            </a:r>
          </a:p>
          <a:p xmlns:a="http://schemas.openxmlformats.org/drawingml/2006/main">
            <a:r>
              <a:t>| A045／115 | [上海海洋水族馆 - 陆家嘴海底隧道海洋馆 - LoongWander](https://www.loongwander.com/zh-CN/article/shanghai-ocean-aquarium)&lt;br&gt;loongwander.com | 正文未见明确日期 | 水族馆展区、错峰和时长支持雨天替换；与247楼层矛盾，路线、讲解、退改不采用。 |</a:t>
            </a:r>
          </a:p>
          <a:p xmlns:a="http://schemas.openxmlformats.org/drawingml/2006/main">
            <a:r>
              <a:t>| A046／116 | [上海之巅观光厅 - 上海中心大厦118层观景台 - LoongWander](https://www.loongwander.com/zh-CN/article/summit-shanghai-observation-deck)&lt;br&gt;loongwander.com | 正文未见明确日期 | 上海之巅按能见度选下午至傍晚、留1.5–2小时；入口票务时刻须官方核验。 |</a:t>
            </a:r>
          </a:p>
          <a:p xmlns:a="http://schemas.openxmlformats.org/drawingml/2006/main">
            <a:r>
              <a:t>| A047／118 | [Shanghai Wild Animal Park, Shanghai Zoological Park](https://www.chinahighlights.com/shanghai/attraction/shanghai-wild-animal-park.htm)&lt;br&gt;chinahighlights.com | 正文未见明确日期 | 野生动物园须独立游玩日，本次主动舍弃；票价、动物展示与运营不保证。 |</a:t>
            </a:r>
          </a:p>
          <a:p xmlns:a="http://schemas.openxmlformats.org/drawingml/2006/main">
            <a:r>
              <a:t>| A048／166 | [Shanghai City Layout, Districts Guide, Downtown Landmarks](https://www.travelchinaguide.com/cityguides/shanghai/orientation.htm)&lt;br&gt;travelchinaguide.com | 2026-04-30 更新 | 浦西浦东与各核心街区关系支持分区减少折返；旧店铺名单不当现状。 |</a:t>
            </a:r>
          </a:p>
          <a:p xmlns:a="http://schemas.openxmlformats.org/drawingml/2006/main">
            <a:r>
              <a:t>| A049／171 | [Former French Concession, Shanghai: History, Walking Tour Route](https://www.travelchinaguide.com/attraction/shanghai/former-french-concession.htm)&lt;br&gt;travelchinaguide.com | 2026-04-23 更新 | 梧桐街区随时缩短并坐下喝茶，全日大线只取武康安福或新天地思南一组。 |</a:t>
            </a:r>
          </a:p>
          <a:p xmlns:a="http://schemas.openxmlformats.org/drawingml/2006/main">
            <a:r>
              <a:t>| A050／172 | [Oriental Pearl Tower Shanghai, Opening Hours, Tickets](https://www.travelchinaguide.com/attraction/shanghai/oriental_pearl.htm)&lt;br&gt;travelchinaguide.com | 正文未见明确日期 | 东方明珠为上海中心替代登高，按兴趣择一；套餐禁带灯光未核。 |</a:t>
            </a:r>
          </a:p>
          <a:p xmlns:a="http://schemas.openxmlformats.org/drawingml/2006/main">
            <a:r>
              <a:t>| A051／176 | [Shanghai People's Park, Renmin Park: Marriage Market](https://www.travelchinaguide.com/attraction/shanghai/peoples-park.htm)&lt;br&gt;travelchinaguide.com | 2025-08-13 更新 | 人民公园休息设施与南京路连接可用；相亲角只作可选观察。 |</a:t>
            </a:r>
          </a:p>
          <a:p xmlns:a="http://schemas.openxmlformats.org/drawingml/2006/main">
            <a:r>
              <a:t>| A052／177 | [Xintiandi, Shanghai – Area Combining Old Shikumen &amp; Modern Fashion](https://www.travelchinaguide.com/attraction/shanghai/xin-tian-di.htm)&lt;br&gt;travelchinaguide.com | 2026-07-24 更新 | 新天地北里石库门和商业区休息，可配思南局部，不再奔远郊。 |</a:t>
            </a:r>
          </a:p>
          <a:p xmlns:a="http://schemas.openxmlformats.org/drawingml/2006/main">
            <a:r>
              <a:t>| A053／180 | [Shanghai Autumn Weather 2026: Clothing &amp; Travel Tips](https://www.travelchinaguide.com/cityguides/shanghai/autumn.htm)&lt;br&gt;travelchinaguide.com | 正文未见明确日期 | 秋季外套和舒适鞋可采用；十月下旬不保证梧桐金黄，主要观赏段通常更晚。 |</a:t>
            </a:r>
          </a:p>
          <a:p xmlns:a="http://schemas.openxmlformats.org/drawingml/2006/main">
            <a:r>
              <a:t>| A054／181 | [Hengshan Road - A Famous Bar Street in Shanghai](https://www.travelchinaguide.com/attraction/shanghai/hengshan-road.htm)&lt;br&gt;travelchinaguide.com | 2025-08-13 更新 | 衡山路建筑与梧桐可作街区延伸，旧酒吧及随时入内教堂说法剔除。 |</a:t>
            </a:r>
          </a:p>
          <a:p xmlns:a="http://schemas.openxmlformats.org/drawingml/2006/main">
            <a:r>
              <a:t>| A055／182 | [Huaihai Road, Shanghai: Shopping Market, Commercial Street](https://www.travelchinaguide.com/cityguides/shanghai/huaihai-road.htm)&lt;br&gt;travelchinaguide.com | 2026-07-24 更新 | 淮海中路购物用餐和街景，路很长只选局部，雨天可缩室外。 |</a:t>
            </a:r>
          </a:p>
          <a:p xmlns:a="http://schemas.openxmlformats.org/drawingml/2006/main">
            <a:r>
              <a:t>| A056／183 | [Yuyuan Bazaar, Yuyuan Market, Shanghai - A Famous Commercial Center,](https://www.travelchinaguide.com/attraction/shanghai/yuyuan-bazaar.htm)&lt;br&gt;travelchinaguide.com | 2025-08-13 更新 | 商城在园林之外，夜景小吃顺路；时长可缩，旧商户灯光未核。 |</a:t>
            </a:r>
          </a:p>
          <a:p xmlns:a="http://schemas.openxmlformats.org/drawingml/2006/main">
            <a:r>
              <a:t>| A057／184 | [Xujiahui, Shanghai: A Top Shopping &amp; Entertainment Center](https://www.travelchinaguide.com/cityguides/shanghai/xujiahui.htm)&lt;br&gt;travelchinaguide.com | 2026-07-24 | 徐家汇商场可替换半日，不与所有街区同日叠加；六百等旧店名单不采用。 |</a:t>
            </a:r>
          </a:p>
          <a:p xmlns:a="http://schemas.openxmlformats.org/drawingml/2006/main">
            <a:r>
              <a:t>| A058／185 | [Tianzifang, Shanghai – An Artsy Area with Bar, Restaurant &amp; Shikumen](https://www.travelchinaguide.com/attraction/shanghai/tianzifang.htm)&lt;br&gt;travelchinaguide.com | 2026-07-24 更新 | 田子坊可选街区体验，居民仍居住；与同类商业街择一而非全部排满。 |</a:t>
            </a:r>
          </a:p>
          <a:p xmlns:a="http://schemas.openxmlformats.org/drawingml/2006/main">
            <a:r>
              <a:t>| A059／186 | [Qibao Ancient Town – A Watertown 18KM from Shanghai](https://www.travelchinaguide.com/attraction/shanghai/qibao-ancient-town.htm)&lt;br&gt;travelchinaguide.com | 2026-07-24 更新 | 七宝古镇交通较可控为替换，本次已有老城与迪士尼不叠加。 |</a:t>
            </a:r>
          </a:p>
          <a:p xmlns:a="http://schemas.openxmlformats.org/drawingml/2006/main">
            <a:r>
              <a:t>| A060／188 | [Huangpu River, Shanghai – The Mother River &amp; Landmark of Shanghai](https://www.travelchinaguide.com/attraction/shanghai/huangpu.htm)&lt;br&gt;travelchinaguide.com | 正文未见明确日期 | 外滩与浦东滨江分别看两岸，游船轮渡分开决策，旧出口分钟数不采用。 |</a:t>
            </a:r>
          </a:p>
          <a:p xmlns:a="http://schemas.openxmlformats.org/drawingml/2006/main">
            <a:r>
              <a:t>| A061／189 | [Shanghai Museum on People’s Square, a Hub of World Relics](https://www.travelchinaguide.com/attraction/shanghai/museum-people-square.htm)&lt;br&gt;travelchinaguide.com | 正文未见明确日期 | 雨天按当期展览选人民广场馆或东馆，避免混淆；预约、特展和票价需官方复核。 |</a:t>
            </a:r>
          </a:p>
          <a:p xmlns:a="http://schemas.openxmlformats.org/drawingml/2006/main">
            <a:r>
              <a:t>| A062／190 | [Shanghai Disneyland Park, Disney Resort China Tickets](https://www.travelchinaguide.com/attraction/shanghai/disneyland-park.htm)&lt;br&gt;travelchinaguide.com | 正文未见明确日期 | 项目、节目、交通住宿和App构成乐园指南；固定票价时刻、身高、早享须官方核验。 |</a:t>
            </a:r>
          </a:p>
          <a:p xmlns:a="http://schemas.openxmlformats.org/drawingml/2006/main">
            <a:r>
              <a:t>| A063／192 | [Shanghai Jewish Refugees Museum, Former Ohel Moshe Synagogue](https://www.travelchinaguide.com/attraction/shanghai/jewish-refugees-museum.htm)&lt;br&gt;travelchinaguide.com | 2026-07-24 更新 | 犹太难民馆为历史兴趣替换，可与虹口北外滩局部配，门票开放未核。 |</a:t>
            </a:r>
          </a:p>
          <a:p xmlns:a="http://schemas.openxmlformats.org/drawingml/2006/main">
            <a:r>
              <a:t>| A064／193 | [Shanghai Natural History Museum: Opening Hours, Ticket Price](https://www.travelchinaguide.com/attraction/shanghai/natural-history-museum.htm)&lt;br&gt;travelchinaguide.com | 2026-07-24 更新 | 自然博物馆为室内半日替换，不与上博同日全逛，开放预约另核。 |</a:t>
            </a:r>
          </a:p>
          <a:p xmlns:a="http://schemas.openxmlformats.org/drawingml/2006/main">
            <a:r>
              <a:t>| A065／194 | [China Shanghai Urban Planning Exhibition Hall: Price, Hours](https://www.travelchinaguide.com/attraction/shanghai/urban-planning-exhibtion-hall.htm)&lt;br&gt;travelchinaguide.com | 2026-07-24 | 城市规划展示馆为人民广场雨天候选，周三闭馆断言不采用。 |</a:t>
            </a:r>
          </a:p>
          <a:p xmlns:a="http://schemas.openxmlformats.org/drawingml/2006/main">
            <a:r>
              <a:t>| A066／195 | [Auto Museum, Shanghai – China's 1st Professional Automoblie Museum](https://www.travelchinaguide.com/attraction/shanghai/automotive-museum.htm)&lt;br&gt;travelchinaguide.com | 2026-07-24 更新 | 汽车馆展区与地铁接公交有实质内容，兴趣专项不列默认，避免遠郊通勤。 |</a:t>
            </a:r>
          </a:p>
          <a:p xmlns:a="http://schemas.openxmlformats.org/drawingml/2006/main">
            <a:r>
              <a:t>| A067／196 | [China Art Museum, Shanghai – Former China Pavilion of Expo 2010](https://www.travelchinaguide.com/attraction/shanghai/art-museum.htm)&lt;br&gt;travelchinaguide.com | 2026-07-24 更新 | 中华艺术宫为雨天艺术选项，正文2012–2013展期不当当前。 |</a:t>
            </a:r>
          </a:p>
          <a:p xmlns:a="http://schemas.openxmlformats.org/drawingml/2006/main">
            <a:r>
              <a:t>| A068／197 | [China Maritime Museum, Shanghai: What to See, How to Get There](https://www.travelchinaguide.com/attraction/shanghai/maritime-museum.htm)&lt;br&gt;travelchinaguide.com | 2025-08-13 更新 | 航海博物馆滴水湖远郊需换乘，本次不优先，作为航海兴趣取舍。 |</a:t>
            </a:r>
          </a:p>
          <a:p xmlns:a="http://schemas.openxmlformats.org/drawingml/2006/main">
            <a:r>
              <a:t>| A069／198 | [Chinese Martial Arts Museum, Shanghai – Showing Genuine Kungfu](https://www.travelchinaguide.com/attraction/shanghai/martial-arts-museum.htm)&lt;br&gt;travelchinaguide.com | 2026-07-24 | 武术馆有实质展区交通指南但兴趣较专，本次不增加杨浦绕行。 |</a:t>
            </a:r>
          </a:p>
          <a:p xmlns:a="http://schemas.openxmlformats.org/drawingml/2006/main">
            <a:r>
              <a:t>| A070／199 | [China Tobacco Museum, Shanghai – Showing Culture of Chinese Tobacco](https://www.travelchinaguide.com/attraction/shanghai/tobacco-museum.htm)&lt;br&gt;travelchinaguide.com | 2026-07-24 更新 | 烟草馆交通和有限开放提示可作专项取舍，本次不增加杨浦绕行。 |</a:t>
            </a:r>
          </a:p>
          <a:p xmlns:a="http://schemas.openxmlformats.org/drawingml/2006/main">
            <a:r>
              <a:t>| A071／200 | [Shanghai Long Museum: Locations, Timings, Ticket, How to Reach](https://www.travelchinaguide.com/attraction/shanghai/long-museum.htm)&lt;br&gt;travelchinaguide.com | 2025-08-13 更新 | 西岸馆可配徐汇滨江，按展览兴趣选，票价免费日不据旧文保证。 |</a:t>
            </a:r>
          </a:p>
          <a:p xmlns:a="http://schemas.openxmlformats.org/drawingml/2006/main">
            <a:r>
              <a:t>| A072／201 | [Madame Tussauds Shanghai, Wax Museum – The 6th in the World](https://www.travelchinaguide.com/attraction/shanghai/madame-tussauds.htm)&lt;br&gt;travelchinaguide.com | 2026-07-24 更新 | 蜡像馆为人民广场雨天合影兴趣替换，展示人物体验联票不作保证。 |</a:t>
            </a:r>
          </a:p>
          <a:p xmlns:a="http://schemas.openxmlformats.org/drawingml/2006/main">
            <a:r>
              <a:t>| A073／203 | [Shanghai Natural Wild Insect Kingdom](https://www.travelchinaguide.com/attraction/shanghai/natural-insect-kingdom.htm)&lt;br&gt;travelchinaguide.com | 2026-04-30 更新 | 昆虫馆仅为兴趣备选，两人不与水族馆和观景台同日堆满，当前运营另核。 |</a:t>
            </a:r>
          </a:p>
          <a:p xmlns:a="http://schemas.openxmlformats.org/drawingml/2006/main">
            <a:r>
              <a:t>| A074／204 | [Power Station of Art, Shanghai – China's 1st Public Modern Art Museum](https://www.travelchinaguide.com/attraction/shanghai/art-power-station.htm)&lt;br&gt;travelchinaguide.com | 2026-07-24 更新 | 电厂艺术馆独立半日，双年展正文只到2020–2021，不作2026展览。 |</a:t>
            </a:r>
          </a:p>
          <a:p xmlns:a="http://schemas.openxmlformats.org/drawingml/2006/main">
            <a:r>
              <a:t>| A075／206 | [Top 10 Museums in Shanghai, Best Museums to Visit](https://www.travelchinaguide.com/attraction/shanghai/museums.htm)&lt;br&gt;travelchinaguide.com | 2026-03-26 | 博物馆按兴趣择一并核对开放与展览；旧昆虫馆资料不作现行依据。 |</a:t>
            </a:r>
          </a:p>
          <a:p xmlns:a="http://schemas.openxmlformats.org/drawingml/2006/main">
            <a:r>
              <a:t>| A076／207 | [Shanghai Old Street – A Great Place to See an Old Shanghai](https://www.travelchinaguide.com/attraction/shanghai/old-street.htm)&lt;br&gt;travelchinaguide.com | 正文未见明确日期 | 上海老街与豫园连接支持顺路散步，店铺数量、评弹和营业不据旧文保证。 |</a:t>
            </a:r>
          </a:p>
          <a:p xmlns:a="http://schemas.openxmlformats.org/drawingml/2006/main">
            <a:r>
              <a:t>| A077／208 | [Shikumen Residence, Household Museum, Shanghai](https://www.travelchinaguide.com/attraction/shanghai/shikumen.htm)&lt;br&gt;travelchinaguide.com | 2026-04-30 更新 | 石库门在新天地田子坊择一体验，专题馆入内规则另核。 |</a:t>
            </a:r>
          </a:p>
          <a:p xmlns:a="http://schemas.openxmlformats.org/drawingml/2006/main">
            <a:r>
              <a:t>| A078／210 | [Duolun Road, Cultural Celebrities Street, Shanghai](https://www.travelchinaguide.com/attraction/shanghai/duolun-road.htm)&lt;br&gt;travelchinaguide.com | 2026-07-24 | 多伦路为文学老街偏好的替换半日，私馆不保证开放，不新增完整一天。 |</a:t>
            </a:r>
          </a:p>
          <a:p xmlns:a="http://schemas.openxmlformats.org/drawingml/2006/main">
            <a:r>
              <a:t>| A079／211 | [Fengjing Ancient Town, Shanghai – A Typical Old Water Town](https://www.travelchinaguide.com/attraction/shanghai/fengjing-ancient-town.htm)&lt;br&gt;travelchinaguide.com | 2026-07-24 更新 | 枫泾桥梁、小吃和交通构成古镇指南，远离核心，本次不增加金山游。 |</a:t>
            </a:r>
          </a:p>
          <a:p xmlns:a="http://schemas.openxmlformats.org/drawingml/2006/main">
            <a:r>
              <a:t>| A080／212 | [Former Residence of Sun Yat-sen, Shanghai – Being on Xiangshan Road](https://www.travelchinaguide.com/attraction/shanghai/residence-sun-yat-sen.htm)&lt;br&gt;travelchinaguide.com | 2026-07-24 更新 | 孙中山故居为思南复兴公园附近历史加选，不强制名人故居全部打卡。 |</a:t>
            </a:r>
          </a:p>
          <a:p xmlns:a="http://schemas.openxmlformats.org/drawingml/2006/main">
            <a:r>
              <a:t>| A081／213 | [Former Residence of Zhou Enlai, Shanghai: How to Get There](https://www.travelchinaguide.com/attraction/shanghai/zhou-enlai-former-residence.htm)&lt;br&gt;travelchinaguide.com | 2025-08-13 更新 | 周公馆为思南新天地历史兴趣加选，开放预约拍照规则另核。 |</a:t>
            </a:r>
          </a:p>
          <a:p xmlns:a="http://schemas.openxmlformats.org/drawingml/2006/main">
            <a:r>
              <a:t>| A082／215 | [Guyi Garden, Ancient Yi Garden, Shanghai](https://www.travelchinaguide.com/attraction/shanghai/guyi-garden.htm)&lt;br&gt;travelchinaguide.com | 2026-04-30 更新 | 古猗园分区与南翔小笼可作园林兴趣替换，已有豫园无需重复。 |</a:t>
            </a:r>
          </a:p>
          <a:p xmlns:a="http://schemas.openxmlformats.org/drawingml/2006/main">
            <a:r>
              <a:t>| A083／216 | [Sinan Road - One of the Best Old Streets in Shanghai](https://www.travelchinaguide.com/attraction/shanghai/sinan-road.htm)&lt;br&gt;travelchinaguide.com | 2025-08-13 更新 | 思南路与公馆、公园局部慢走休息，旧店与出入口复核。 |</a:t>
            </a:r>
          </a:p>
          <a:p xmlns:a="http://schemas.openxmlformats.org/drawingml/2006/main">
            <a:r>
              <a:t>| A084／218 | [Soong Ching Ling Memorial Residence in Shanghai](https://www.travelchinaguide.com/attraction/shanghai/former-residence-of-songqingling.htm)&lt;br&gt;travelchinaguide.com | 2026-07-24 | 宋庆龄故居可替换武康路旁部分购物时间，开放票务另核。 |</a:t>
            </a:r>
          </a:p>
          <a:p xmlns:a="http://schemas.openxmlformats.org/drawingml/2006/main">
            <a:r>
              <a:t>| A085／219 | [Suzhou Creek, Suzhou River, Wusong River, Shanghai](https://www.travelchinaguide.com/attraction/shanghai/suzhou-creek.htm)&lt;br&gt;travelchinaguide.com | 2025-08-13 更新 | 苏州河外白渡桥附近短段可延伸，天潼路距离例子错误不采用。 |</a:t>
            </a:r>
          </a:p>
          <a:p xmlns:a="http://schemas.openxmlformats.org/drawingml/2006/main">
            <a:r>
              <a:t>| A086／220 | [Thames Town – A Classic Replica British Town in Shanghai’s Suburb](https://www.travelchinaguide.com/attraction/shanghai/thames-town.htm)&lt;br&gt;travelchinaguide.com | 2025-08-13 更新 | 泰晤士小镇建筑与书店有趣但远郊转乘，本次不优先，住宅区不当开放景点。 |</a:t>
            </a:r>
          </a:p>
          <a:p xmlns:a="http://schemas.openxmlformats.org/drawingml/2006/main">
            <a:r>
              <a:t>| A087／221 | [Waibaidu Bridge, Garden Bridge of Shanghai](https://www.travelchinaguide.com/attraction/shanghai/waibaidu-bridge.htm)&lt;br&gt;travelchinaguide.com | 2026-07-24 更新 | 外白渡桥可在外滩北端顺路，不需独立半日。 |</a:t>
            </a:r>
          </a:p>
          <a:p xmlns:a="http://schemas.openxmlformats.org/drawingml/2006/main">
            <a:r>
              <a:t>| A088／222 | [Wukang Road, Shanghai, Ferguson Lane - A Historical &amp; Cultural Road](https://www.travelchinaguide.com/attraction/shanghai/wukang-road.htm)&lt;br&gt;travelchinaguide.com | 2025-08-13 | 交通大学站进入武康路南端，向北接安福路；Farine、WIYF等旧店营业断言剔除。 |</a:t>
            </a:r>
          </a:p>
          <a:p xmlns:a="http://schemas.openxmlformats.org/drawingml/2006/main">
            <a:r>
              <a:t>| A089／223 | [Xinchang Ancient Town, Water town in Shanghai](https://www.travelchinaguide.com/attraction/shanghai/xinchang-ancient-town.htm)&lt;br&gt;travelchinaguide.com | 2025-08-13 更新 | 新场古镇牌坊、茶楼和转乘形成实质攻略，本次不占用迪士尼休整日。 |</a:t>
            </a:r>
          </a:p>
          <a:p xmlns:a="http://schemas.openxmlformats.org/drawingml/2006/main">
            <a:r>
              <a:t>| A090／224 | [1933 Old Millfun, Shanghai: An Art Cluster Turn from a Slaughterhouse](https://www.travelchinaguide.com/attraction/shanghai/1933-old-millfun.htm)&lt;br&gt;travelchinaguide.com | 2025-08-13 更新 | 1933老场坊光影与建筑适合1–2小时替换，租户和演出不保证。 |</a:t>
            </a:r>
          </a:p>
          <a:p xmlns:a="http://schemas.openxmlformats.org/drawingml/2006/main">
            <a:r>
              <a:t>| A091／225 | [Jin Mao Tower, Shanghai - The 3rd Tallest Skyscraper of the City](https://www.travelchinaguide.com/attraction/shanghai/jinmao.htm)&lt;br&gt;travelchinaguide.com | 2026-04-30 更新 | 金茂为陆家嘴可选登高，一座即可；机场30分钟和项目票价不采用。 |</a:t>
            </a:r>
          </a:p>
          <a:p xmlns:a="http://schemas.openxmlformats.org/drawingml/2006/main">
            <a:r>
              <a:t>| A092／226 | [Lujiazui, Shanghai – The Largest Financial Zone in Mainland China](https://www.travelchinaguide.com/attraction/shanghai/lujiazui.htm)&lt;br&gt;travelchinaguide.com | 2026-07-24 | 滨江、摩天楼外观与中央绿地支撑陆家嘴半日；环球金融观光层与遗漏14号线不采用。 |</a:t>
            </a:r>
          </a:p>
          <a:p xmlns:a="http://schemas.openxmlformats.org/drawingml/2006/main">
            <a:r>
              <a:t>| A093／227 | [Lupu Bridge, Shanghai - The First Steel Arch Bridge in the World](https://www.travelchinaguide.com/attraction/shanghai/lupu-bridge.htm)&lt;br&gt;travelchinaguide.com | 2026-07-24 更新 | 旧桥景和交通提供背景，但桥顶观光运营未核，不安排登桥。 |</a:t>
            </a:r>
          </a:p>
          <a:p xmlns:a="http://schemas.openxmlformats.org/drawingml/2006/main">
            <a:r>
              <a:t>| A094／228 | [Shanghai Century Park: Things to Do, Opening Hours, Map](https://www.travelchinaguide.com/attraction/shanghai/century-park.htm)&lt;br&gt;travelchinaguide.com | 2026-07-24 更新 | 世纪公园湖边休息是浦东恢复体力选项，不绕全园，不保证邻馆和付费项目开放。 |</a:t>
            </a:r>
          </a:p>
          <a:p xmlns:a="http://schemas.openxmlformats.org/drawingml/2006/main">
            <a:r>
              <a:t>| A095／229 | [Fuxing Park, Shanghai – Keeping French &amp; Chinese Style Layout](https://www.travelchinaguide.com/attraction/shanghai/fuxing-park.htm)&lt;br&gt;travelchinaguide.com | 2025-08-13 更新 | 复兴公园配新天地思南局部休息，旧酒吧设施不保证。 |</a:t>
            </a:r>
          </a:p>
          <a:p xmlns:a="http://schemas.openxmlformats.org/drawingml/2006/main">
            <a:r>
              <a:t>| A096／230 | [Marriage Market, Shanghai People's Park](https://www.travelchinaguide.com/attraction/shanghai/marriage-market.htm)&lt;br&gt;travelchinaguide.com | 2025-08-13 | 人民公园可顺路观察生活与休息；不追拍相亲个人资料，不保证热闹时刻。 |</a:t>
            </a:r>
          </a:p>
          <a:p xmlns:a="http://schemas.openxmlformats.org/drawingml/2006/main">
            <a:r>
              <a:t>| A097／231 | [Botanical Garden, Shanghai – China's Biggest Municipal Botanic Garden](https://www.travelchinaguide.com/attraction/shanghai/botanical-garden.htm)&lt;br&gt;travelchinaguide.com | 2026-07-24 更新 | 四季植物景观和入口交通支持自然兴趣替换；与105设施有冲突，入口票价官方核验。 |</a:t>
            </a:r>
          </a:p>
          <a:p xmlns:a="http://schemas.openxmlformats.org/drawingml/2006/main">
            <a:r>
              <a:t>| A098／232 | [Shanghai Changfeng Park, Ocean World](https://www.travelchinaguide.com/attraction/shanghai/changfeng-park.htm)&lt;br&gt;travelchinaguide.com | 2026-07-24 更新 | 长风公园湖边休息可选，两成年人地标初访优先级低，海洋馆演出不安排。 |</a:t>
            </a:r>
          </a:p>
          <a:p xmlns:a="http://schemas.openxmlformats.org/drawingml/2006/main">
            <a:r>
              <a:t>| A099／233 | [Shanghai Chenshan Botanical Garden: What to See, Flower Show Time](https://www.travelchinaguide.com/attraction/shanghai/chenshan-botanical-garden.htm)&lt;br&gt;travelchinaguide.com | 2025-08-13 更新 | 辰山植物园远郊大园作为植物兴趣替换，花展不保证当期。 |</a:t>
            </a:r>
          </a:p>
          <a:p xmlns:a="http://schemas.openxmlformats.org/drawingml/2006/main">
            <a:r>
              <a:t>| A100／235 | [Dianshan Lake, Dian Shan Hu, Shanghai](https://www.travelchinaguide.com/attraction/shanghai/dianshan-lake.htm)&lt;br&gt;travelchinaguide.com | 2026-04-30 更新 | 淀山湖需专门郊游而非顺路；乐高旧建设信息不采用。 |</a:t>
            </a:r>
          </a:p>
          <a:p xmlns:a="http://schemas.openxmlformats.org/drawingml/2006/main">
            <a:r>
              <a:t>| A101／236 | [Dongping National Forest Park, Chongming Island, Shanghai](https://www.travelchinaguide.com/attraction/shanghai/dongping-forest-park.htm)&lt;br&gt;travelchinaguide.com | 2026-07-24 更新 | 森林公园多段交通适合另次崇明度假，本次不加远行。 |</a:t>
            </a:r>
          </a:p>
          <a:p xmlns:a="http://schemas.openxmlformats.org/drawingml/2006/main">
            <a:r>
              <a:t>| A102／237 | [People's Square, Shanghai Renmin Square – The Center of the City](https://www.travelchinaguide.com/attraction/shanghai/peoples-square.htm)&lt;br&gt;travelchinaguide.com | 2026-07-24 更新 | 人民广场枢纽可配南京路，馆区和开放不靠旧周边介绍判断。 |</a:t>
            </a:r>
          </a:p>
          <a:p xmlns:a="http://schemas.openxmlformats.org/drawingml/2006/main">
            <a:r>
              <a:t>| A103／238 | [Shanghai Zoo: Giant Pandas, Golden Monkeys](https://www.travelchinaguide.com/attraction/shanghai/zoo.htm)&lt;br&gt;travelchinaguide.com | 2026-07-24 | 动物园为兴趣替换；成都出发不把熊猫当稀缺必看，本次不额外增加。 |</a:t>
            </a:r>
          </a:p>
          <a:p xmlns:a="http://schemas.openxmlformats.org/drawingml/2006/main">
            <a:r>
              <a:t>| A104／239 | [Shanghai Wild Animal Park: How to Get There, Show Time](https://www.travelchinaguide.com/attraction/shanghai/wild-animal-zoo.htm)&lt;br&gt;travelchinaguide.com | 2026-07-24 更新 | 野生动物园分区和换乘为指南，需完整一天，与本次乐园需求重复而删减。 |</a:t>
            </a:r>
          </a:p>
          <a:p xmlns:a="http://schemas.openxmlformats.org/drawingml/2006/main">
            <a:r>
              <a:t>| A105／240 | [Zhongshan Park, Shanghai – Combining Western &amp; Chinese Elements](https://www.travelchinaguide.com/attraction/shanghai/zhongshan-park.htm)&lt;br&gt;travelchinaguide.com | 2025-08-13 更新 | 中山公园给住2号线西侧旅客临近休息，不专程跨城，草坪和开放现场确认。 |</a:t>
            </a:r>
          </a:p>
          <a:p xmlns:a="http://schemas.openxmlformats.org/drawingml/2006/main">
            <a:r>
              <a:t>| A106／242 | [Shanghai Disney Resort: Park, Hotel, Restaurant, Map, Store](https://www.travelchinaguide.com/attraction/shanghai/disney-resort.htm)&lt;br&gt;travelchinaguide.com | 正文未见明确日期 | 区分收费乐园、小镇和星愿公园，转场日小镇可选；旧剧目、固定烟花和早享时刻不采用。 |</a:t>
            </a:r>
          </a:p>
          <a:p xmlns:a="http://schemas.openxmlformats.org/drawingml/2006/main">
            <a:r>
              <a:t>| A107／243 | [Happy Valley Shanghai, Theme Park Rides, Roller Coaster Price](https://www.travelchinaguide.com/attraction/shanghai/happy-valley.htm)&lt;br&gt;travelchinaguide.com | 2026-07-24 更新 | 欢乐谷分区和地铁接驳为实质攻略，本次已选迪士尼不再增加另一主题乐园。 |</a:t>
            </a:r>
          </a:p>
          <a:p xmlns:a="http://schemas.openxmlformats.org/drawingml/2006/main">
            <a:r>
              <a:t>| A108／246 | [M50 Shanghai – A Top Industrial Art Complex: Ticket, Timings, Fact](https://www.travelchinaguide.com/attraction/shanghai/m50-creative-park.htm)&lt;br&gt;travelchinaguide.com | 2025-08-13 | M50为当代艺术兴趣替换半日，画廊各自营业；开放日矛盾和旧店名单剔除。 |</a:t>
            </a:r>
          </a:p>
          <a:p xmlns:a="http://schemas.openxmlformats.org/drawingml/2006/main">
            <a:r>
              <a:t>| A109／247 | [Ocean Aquarium, Shanghai – With 300 Types &amp; 15,000 Water Creatures](https://www.travelchinaguide.com/attraction/shanghai/ocean-aquarium.htm)&lt;br&gt;travelchinaguide.com | 2026-07-24 更新 | 水族馆为陆家嘴雨天替换，和115楼层路线冲突，联票演出营业须官方确认。 |</a:t>
            </a:r>
          </a:p>
          <a:p xmlns:a="http://schemas.openxmlformats.org/drawingml/2006/main">
            <a:r>
              <a:t>| A110／252 | [上海外滩｜玩什么、看什么、吃什么｜外滩历史](https://studycli.org/zh-CN/travel-china/shanghai-bund/)&lt;br&gt;studycli.org | 2021-12-28 发布 | 外滩步道建筑、渡轮周边支持慢走；旧票价不用，北京烤鸭不标上海特色，语言版本去重。 |</a:t>
            </a:r>
          </a:p>
          <a:p xmlns:a="http://schemas.openxmlformats.org/drawingml/2006/main">
            <a:r>
              <a:t>| A111／253 | [上海外滩：滨江步道与城市景观 ／ GoAsia](https://goasia.cc/cn/article/the-bund-shanghai)&lt;br&gt;goasia.cc | 2026-10-07 更新 | 外滩南京路顺路，轮渡与游船分别选择，旧政府资料不保证当晚灯光船班。 |</a:t>
            </a:r>
          </a:p>
          <a:p xmlns:a="http://schemas.openxmlformats.org/drawingml/2006/main">
            <a:r>
              <a:t>| A112／258 | [上海豫园 ／ 一座明代古典园林，一颗隐藏在老城厢内的明珠_历史_古建筑_结构](https://www.sohu.com/a/817918834_121124715)&lt;br&gt;sohu.com | 2024-10-18 发布 | 老城路线周边小吃有用，2021开馆及春节灯会当背景不当十月活动。 |</a:t>
            </a:r>
          </a:p>
          <a:p xmlns:a="http://schemas.openxmlformats.org/drawingml/2006/main">
            <a:r>
              <a:t>| A113／260 | [上海迪士尼攻略（6次吐血总结）](https://www.zhihu.com/tardis/zm/art/256381785)&lt;br&gt;zhihu.com | 2023-07-17 | 实游支持项目、节目、吃饭和休息交替；疫情健康码、免费快通及五分钟客流旧经验不用于2026。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已读后排除（不计入百篇）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原ID | 原文 | 日期 | 排除理由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7 | [上海豫园游玩攻略：藏在老上海的江南园林与城市烟火，领会中式浪漫](https://www.greentourasia.com/article/shanghaiyuyuanyouwan) | 2026-07-03 更新 | 排除：混淆园林与九曲桥商城，古建列表与景点关系错误且含大量招募推广，未作为有效攻略。 |</a:t>
            </a:r>
          </a:p>
          <a:p xmlns:a="http://schemas.openxmlformats.org/drawingml/2006/main">
            <a:r>
              <a:t>| 37 | [Shanghai Weather in November 2026: Vibrant Autumn Colors](https://www.chinahighlights.com/shanghai/weather/november.htm) | 2026-05-08 更新 | 排除：十一月季节辅助指南，与本次十月下旬不符，活动转换非2026档期。 |</a:t>
            </a:r>
          </a:p>
          <a:p xmlns:a="http://schemas.openxmlformats.org/drawingml/2006/main">
            <a:r>
              <a:t>| 48 | [What &amp; Where to Eat in Shanghai: Best Restaurants &amp; Food](https://www.travelchinaguide.com/cityguides/shanghai/dining.htm) | 2025-08-13 更新 | 排除：餐饮总览主要为菜系说明和分类链接，实用路线、分店与游览建议不足，作为背景资料另计。 |</a:t>
            </a:r>
          </a:p>
          <a:p xmlns:a="http://schemas.openxmlformats.org/drawingml/2006/main">
            <a:r>
              <a:t>| 61 | [Shanghai Train: Schedule, Tickets, Railway Stations with Maps](https://www.travelchinaguide.com/china-trains/shanghai-schedule.htm) | 2026-07-08 | 排除：铁路时刻票价表与售票入口属于交通参考，不计旅游攻略。 |</a:t>
            </a:r>
          </a:p>
          <a:p xmlns:a="http://schemas.openxmlformats.org/drawingml/2006/main">
            <a:r>
              <a:t>| 65 | [Pudong New Area, Shanghai: Epitome of Shanghai's Modernization](https://www.travelchinaguide.com/cityguides/shanghai/pudong-new-area.htm) | 2026-07-13 更新 | 排除：浦东区域邻接、楼高换算及过时观光层交通叙述错误较多，不作为当前区域攻略依据。 |</a:t>
            </a:r>
          </a:p>
          <a:p xmlns:a="http://schemas.openxmlformats.org/drawingml/2006/main">
            <a:r>
              <a:t>| 79 | [Shanghai Weather in November 2026: Cool and Sunny Overall](https://www.travelchinaguide.com/cityguides/shanghai/weather-november.htm) | 正文未见明确日期 | 排除：十一月气候与穿衣辅助资料，和本次十月下旬时段不符，不计有效攻略。 |</a:t>
            </a:r>
          </a:p>
          <a:p xmlns:a="http://schemas.openxmlformats.org/drawingml/2006/main">
            <a:r>
              <a:t>| 81 | [Famous Churches in Shanghai: Catholic, Christian, Protestant…](https://www.travelchinaguide.com/cityguides/shanghai/churches.htm) | 2025-08-14 更新 | 排除：地址电话礼拜目录，混入马来西亚槟城教堂故事，错配且缺实用路线。 |</a:t>
            </a:r>
          </a:p>
          <a:p xmlns:a="http://schemas.openxmlformats.org/drawingml/2006/main">
            <a:r>
              <a:t>| 103 | [【上海自由行】三天兩晚自由行全攻略，交通、行程、住宿、美食 - Go Travelling World](https://gotravellingworld.com/shanghai-travel-guide/) | 2026-07-27 | 排除：城隍庙就是豫园、免费和旧套票票价，核心景点混淆且跨区过密。 |</a:t>
            </a:r>
          </a:p>
          <a:p xmlns:a="http://schemas.openxmlformats.org/drawingml/2006/main">
            <a:r>
              <a:t>| 105 | [【上海植物園】被春風翻開的植物圖鑒：上海植物園賞花指南 - Go Travelling World](https://gotravellingworld.com/shanghai-botanical-garden/) | 2026-06-08 发布 | 排除：实质春季赏花指南，但樱花桃花紫藤不符合本次十月下旬时段，保守不计。 |</a:t>
            </a:r>
          </a:p>
          <a:p xmlns:a="http://schemas.openxmlformats.org/drawingml/2006/main">
            <a:r>
              <a:t>| 107 | [【上海法租界一日遊】法租界景點美食如何安排優質路線? - Go Travelling World](https://gotravellingworld.com/a-day-trip-to-the-french-concession-in-shanghai/) | 2026-08-04 | 排除：瑞金宾馆与太原别墅地址混淆，核心路线地点错误且入内规则未核。 |</a:t>
            </a:r>
          </a:p>
          <a:p xmlns:a="http://schemas.openxmlformats.org/drawingml/2006/main">
            <a:r>
              <a:t>| 117 | [Shanghai Huangpu River Cruise: Route, Price, Tips](https://www.chinahighlights.com/shanghai/attraction/huangpu-river-night-cruise.htm) | 正文未见明确日期 | 排除：把外滩与摩天楼所在黄浦江东西岸反写，固定班次票价无明确更新。 |</a:t>
            </a:r>
          </a:p>
          <a:p xmlns:a="http://schemas.openxmlformats.org/drawingml/2006/main">
            <a:r>
              <a:t>| 173 | [Shanghai World Financial Center, SWFC Tickets, Observation Deck](https://www.travelchinaguide.com/attraction/shanghai/financial-center.htm) | 正文未见明确日期 | 排除：环球金融中心观光层营业与旧票价写死，当前开放疑点重大；仅保留外观背景。 |</a:t>
            </a:r>
          </a:p>
          <a:p xmlns:a="http://schemas.openxmlformats.org/drawingml/2006/main">
            <a:r>
              <a:t>| 178 | [Confucian Temple, Shanghai – City's Only Complex Worship Confucius](https://www.travelchinaguide.com/attraction/shanghai/confucius-temple.htm) | 2026-07-24 更新 | 排除：文庙旧书市和常规开放沿用旧情况，无当前状态说明。 |</a:t>
            </a:r>
          </a:p>
          <a:p xmlns:a="http://schemas.openxmlformats.org/drawingml/2006/main">
            <a:r>
              <a:t>| 202 | [Shanghai Memorial Hall of Fushou Garden](https://www.travelchinaguide.com/attraction/shanghai/fushou-garden.htm) | 2026-07-24 | 排除：青浦墓园纪念专项与本次街区购物、美食和迪士尼偏好无关。 |</a:t>
            </a:r>
          </a:p>
          <a:p xmlns:a="http://schemas.openxmlformats.org/drawingml/2006/main">
            <a:r>
              <a:t>| 205 | [Shanghai Science and Technology Museum: Address, Ticket Price](https://www.travelchinaguide.com/attraction/shanghai/science-technology-museum.htm) | 2026-07-24 更新 | 排除：旧科技馆展厅、电影厅、票价开放未说明近年更新改造状态。 |</a:t>
            </a:r>
          </a:p>
          <a:p xmlns:a="http://schemas.openxmlformats.org/drawingml/2006/main">
            <a:r>
              <a:t>| 209 | [Chen Yun Memorial Hall, Former Residence of Chen Yun, Shanghai](https://www.travelchinaguide.com/attraction/shanghai/former-residence-of-chenyun.htm) | 2026-07-24 更新 | 排除：练塘纪念专项且换乘多，与本次核心偏好无关，保守不计。 |</a:t>
            </a:r>
          </a:p>
          <a:p xmlns:a="http://schemas.openxmlformats.org/drawingml/2006/main">
            <a:r>
              <a:t>| 214 | [Grand View Garden, Shanghai: How to Get There from City Center](https://www.travelchinaguide.com/attraction/shanghai/grand-view-garden.htm) | 2026-07-24 | 排除：确有实质指南，但青浦大观园为远郊红楼文化专项，本次不计相关攻略。 |</a:t>
            </a:r>
          </a:p>
          <a:p xmlns:a="http://schemas.openxmlformats.org/drawingml/2006/main">
            <a:r>
              <a:t>| 217 | [Site of the First National Congress of the Communist Party of China, Shanghai](https://www.travelchinaguide.com/attraction/shanghai/site-of-first-national-congress.htm) | 2026-07-24 更新 | 排除：1921年会议称84年前、沿1999布局，实质旧年代不能当2026攻略。 |</a:t>
            </a:r>
          </a:p>
          <a:p xmlns:a="http://schemas.openxmlformats.org/drawingml/2006/main">
            <a:r>
              <a:t>| 234 | [Chongming Island, Shanghai – The Backyard of the City](https://www.travelchinaguide.com/attraction/shanghai/chongming-island.htm) | 2026-07-24 | 排除：崇明是实质自然度假攻略，但增加交通和基地，本次核心需求不纳入。 |</a:t>
            </a:r>
          </a:p>
          <a:p xmlns:a="http://schemas.openxmlformats.org/drawingml/2006/main">
            <a:r>
              <a:t>| 241 | [Bund Sightseeing Tunnel, Shanghai: Tickets Price, Hours](https://www.travelchinaguide.com/attraction/shanghai/bund-sightseeing-tunnel.htm) | 2026-02-13 更新 | 排除：营业表出现11月31日及单向入口断言，核心运营错误。 |</a:t>
            </a:r>
          </a:p>
          <a:p xmlns:a="http://schemas.openxmlformats.org/drawingml/2006/main">
            <a:r>
              <a:t>| 244 | [Jinjiang Action Park, Shanghai: Map, Prices](https://www.travelchinaguide.com/attraction/shanghai/jinjiang-action-park.htm) | 2026-07-24 更新 | 排除：锦江乐园旧项目票价全年运营描述陈旧，不作为2026游客攻略。 |</a:t>
            </a:r>
          </a:p>
          <a:p xmlns:a="http://schemas.openxmlformats.org/drawingml/2006/main">
            <a:r>
              <a:t>| 245 | [Legoland Theme Park, Shanghai – Being Expected to Build in 2020](https://www.travelchinaguide.com/attraction/shanghai/legoland-park.htm) | 2025-08-13 更新 | 排除：乐高仍写2020建2022完工淀山湖，明显严重过时。 |</a:t>
            </a:r>
          </a:p>
          <a:p xmlns:a="http://schemas.openxmlformats.org/drawingml/2006/main">
            <a:r>
              <a:t>| 249 | [上海必去的17个地方，去过8个以上才算真正到过上海，你去过几个_外滩_中国_历史](https://www.sohu.com/a/800755976_121948408) | 2024-08-14 发布 | 排除：景点百科清单无实用路线交通时长，频道日期不当更新日期。 |</a:t>
            </a:r>
          </a:p>
          <a:p xmlns:a="http://schemas.openxmlformats.org/drawingml/2006/main">
            <a:r>
              <a:t>| 250 | [从外滩1号到33号--每一座老建筑都写满故事_上海](https://www.sohu.com/a/355321800_100132841) | 2019-11-22 发布 | 排除：建筑史背景、编号重复和旧租户，缺实用路线参观条件。 |</a:t>
            </a:r>
          </a:p>
          <a:p xmlns:a="http://schemas.openxmlformats.org/drawingml/2006/main">
            <a:r>
              <a:t>| 251 | [上海外滩旅游攻略｜万国建筑群与陆家嘴天际线全景指南](https://visitcn.com.cn/zh/attractions/the-bund-shanghai) | 正文未见明确日期 | 排除：声称外滩1996年入选联合国世界遗产名录，严重事实错误，整篇低可信。 |</a:t>
            </a:r>
          </a:p>
          <a:p xmlns:a="http://schemas.openxmlformats.org/drawingml/2006/main">
            <a:r>
              <a:t>| 261 | [2026上海迪士尼保姆级攻略：少排队、玩尽兴，一站式吃住玩全指南_园区_项目_城堡](https://www.sohu.com/a/998092690_122662986) | 2026-03-18 发布 | 排除：民宿推广混用旧免票、固定7点和少排时长保证，销售承诺不计。 |</a:t>
            </a:r>
          </a:p>
          <a:p xmlns:a="http://schemas.openxmlformats.org/drawingml/2006/main">
            <a:r>
              <a:t>| 263 | [新手去上海迪士尼别瞎逛！全园区必玩项目详解，迪士尼路线规划一次性整理](https://www.greentourasia.com/article/shanghaidishinibiwanxiangmu) | 2026-07-04 更新 | 排除：核心园区归属与路线错误，且承诺全刷热门夹推广，不能照搬。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官方与导航入口（不计入百篇攻略）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入口 | 此次实际读取情况 | 用途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[上海迪士尼游客须知](https://www.shanghaidisneyresort.com/zh-cn/legal/park-rules/) | **浏览器完整正文已读**：食品饮料、箱包、摄影装备、装扮、排队与项目条件；非导航壳 | 主文第四章列与两位成年人有关的携带规则，出发前再复核更新 |</a:t>
            </a:r>
          </a:p>
          <a:p xmlns:a="http://schemas.openxmlformats.org/drawingml/2006/main">
            <a:r>
              <a:t>| [官方门票产品列表](https://www.shanghaidisneyresort.com/zh-cn/commerce/product?id=ThemePark) | **商品列表已读**：一日／二日475起、早鸟一日449起／提前10天立减50、早鸟二日798起、一日票含早享卡等 | 列表起价不代表10/28指定日价；实际商品日期与结算总价仍需查看 |</a:t>
            </a:r>
          </a:p>
          <a:p xmlns:a="http://schemas.openxmlformats.org/drawingml/2006/main">
            <a:r>
              <a:t>| [实名制购票政策](https://www.shanghaidisneyresort.com/zh-cn/legal/shanghai-disney-resort-real-name-ticketing-policy)／[交通](https://www.shanghaidisneyresort.com/zh-cn/information/transportation) | 普通请求与浏览器都未呈现足够完整规则／具体交通正文；未当作已核实 | 证件、预约和交通仍以官方App及实际商品说明确认 |</a:t>
            </a:r>
          </a:p>
          <a:p xmlns:a="http://schemas.openxmlformats.org/drawingml/2006/main">
            <a:r>
              <a:t>| [2026万圣节装扮须知](https://www.shanghaidisneyresort.com/zh-cn/announcement/halloween-guest-costume-guideline) | 官方页面可见真实链接与标题；活动全文未审读 | 复杂装扮前另看最新要求，不依据旧笔记穿戴 |</a:t>
            </a:r>
          </a:p>
          <a:p xmlns:a="http://schemas.openxmlformats.org/drawingml/2006/main">
            <a:r>
              <a:t>| [上海地铁官网](https://www.shmetro.com/)／Metro大都会 | 本次未取得官方最新线网正文 | 复核地铁线路、站名、首末班与临时调整 |</a:t>
            </a:r>
          </a:p>
          <a:p xmlns:a="http://schemas.openxmlformats.org/drawingml/2006/main">
            <a:r>
              <a:t>| [官方线网图](https://www.shmetro.com/u/cms/www/metroViewImg/metroView.jpg)／[首末班](https://service.shmetro.com/hcskb/index.htm)／[运营公告](https://service.shmetro.com/yygg/index.htm) | 真实入口来自已读官方首页；未逐站取得当前运营数据 | D3回程与搬家路径出发前用实时导航复核 |</a:t>
            </a:r>
          </a:p>
          <a:p xmlns:a="http://schemas.openxmlformats.org/drawingml/2006/main">
            <a:r>
              <a:t>| [沪上阿姨官网品牌页](https://www.hsay.com/introduce/index.htm?v=1.7.1) | 已请求，仅提取导航、上海公司名称与备案；未读到品牌历史正文 | 不据空壳写创立年份或上海限定款，门店另查 |</a:t>
            </a:r>
          </a:p>
          <a:p xmlns:a="http://schemas.openxmlformats.org/drawingml/2006/main">
            <a:r>
              <a:t>| 高德公开地点搜索链接 | 文档提供通用搜索URL，未逐个现场导航验证 | 选准确POI后获取实时步行／地铁／驾车路线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动态资料尚待预订或出发前确认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客房空房、整段房价、机票与含行李价格；餐饮／买手店当前在营和菜单；本土奶茶起源官网资料；迪士尼完整实名、预约、指定日结算、退改、活动与接驳；上海地铁逐站运营。普通网络请求与浏览器有过间歇故障，已重试可用公开入口；完整读到的游客须知与商品列表已更新，未取得的部分继续明确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小红书补充审读：10篇文字笔记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读方法：登录后打开笔记详情，读取可见文字正文，保存标题、作者、页面日期、去除访问参数的规范链接和短摘要。大部分页面只显示月日，**未显示年份**，不把它们统称2026近期实测。只列实际读过的正文；标题“8家”但正文仅6家、仅标签或视频而没有实质文字的候选不冒充完整攻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| 标题／作者／页面日期 | 采用信息与限制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X01 | [上海 3-5 天慢游攻略（都市漫游版）](https://www.xiaohongshu.com/explore/6aab687b000000002902c2b1)&lt;br&gt;小羊的城市笔记；09-17，年份未显示 | 有**含AI生成内容声明**。采用分基地、街区留时段与老字号候选；不照搬跨区密集线路、固定早享规则。读文字，未逐张审16图。 |</a:t>
            </a:r>
          </a:p>
          <a:p xmlns:a="http://schemas.openxmlformats.org/drawingml/2006/main">
            <a:r>
              <a:t>| X02 | [上海三日游（含迪士尼）纪实版攻略！](https://www.xiaohongshu.com/explore/69eb7365000000003502b572)&lt;br&gt;horologe；04-24，年份未显示 | 实游叙述：白玉兰南京东路外滩店、如家御桥店为酒店检索候选；南翔、大壶春豫园店、沈大成、德兴馆、味香斋为餐饮线索。雨雾、午餐过久打乱行程支持留余量；不采末班个例、错误站名／店名和三日强度。 |</a:t>
            </a:r>
          </a:p>
          <a:p xmlns:a="http://schemas.openxmlformats.org/drawingml/2006/main">
            <a:r>
              <a:t>| X03 | [2026｜上海买手店指南](https://www.xiaohongshu.com/explore/6aabd8480000000026014835)&lt;br&gt;buyer shop guide；09-17，标题2026、日期年份未显示 | in the PARK安福322号6号楼1楼、蕾虎富民184、ALTER马当245新天地L116。单篇编辑清单，地址线索不证明在营；只放对应街区。 |</a:t>
            </a:r>
          </a:p>
          <a:p xmlns:a="http://schemas.openxmlformats.org/drawingml/2006/main">
            <a:r>
              <a:t>| X04 | [藏在安福路老洋房里的………](https://www.xiaohongshu.com/explore/6a90107e000000001f005d77)&lt;br&gt;嘿Will；08-27，年份未显示 | RONIN MADE安福275号5弄1楼，文字写11–19点、**提前预约**。与X06地址交叉；推广语气，不采品质保证。 |</a:t>
            </a:r>
          </a:p>
          <a:p xmlns:a="http://schemas.openxmlformats.org/drawingml/2006/main">
            <a:r>
              <a:t>| X05 | [安福路这家法式买手店选品真的绝了](https://www.xiaohongshu.com/explore/696cd4ab000000000a029ccf)&lt;br&gt;CSYSeLECTED；01-18，年份未显示 | 店方自述：安福234号2楼、法式成衣配饰；放D3东行。材质／品质宣传未独立核实，当日营业仍确认。 |</a:t>
            </a:r>
          </a:p>
          <a:p xmlns:a="http://schemas.openxmlformats.org/drawingml/2006/main">
            <a:r>
              <a:t>| X06 | [安福路伴手礼，藏在老洋房里的宝藏银饰店💍](https://www.xiaohongshu.com/explore/6ac62f1b000000001800788e)&lt;br&gt;52Hz🐳；6天前，访问日2026-10-13 | RML同地址、11–19点、预约制，与X04交叉。相似推广不当独立品质背书；明星来过传闻不采。 |</a:t>
            </a:r>
          </a:p>
          <a:p xmlns:a="http://schemas.openxmlformats.org/drawingml/2006/main">
            <a:r>
              <a:t>| X07 | [杨浦📍本溪路本地人才懂的四家宝藏老店🍜🍧](https://www.xiaohongshu.com/explore/6a05df83000000003601d7ca)&lt;br&gt;纯纯爱溜达；05-14，年份未显示 | 阿姨奶茶本溪272、血糯米奶茶；杨浦跨区，只作替换半日。单篇门牌不证明在营，“闭眼不踩雷”不采。 |</a:t>
            </a:r>
          </a:p>
          <a:p xmlns:a="http://schemas.openxmlformats.org/drawingml/2006/main">
            <a:r>
              <a:t>| X08 | [是阿姨奶茶不是滬上阿姨](https://www.xiaohongshu.com/explore/6abd23a30000000001008123)&lt;br&gt;逸仙三民路富江五角場宇宙中心花灑薄荷糖大浴場支配；09-30，年份未显示 | **短体验，不计实质旅游攻略**。仅支持名称区分和甜爱路标签；不据此填完整地址、起源或排名。 |</a:t>
            </a:r>
          </a:p>
          <a:p xmlns:a="http://schemas.openxmlformats.org/drawingml/2006/main">
            <a:r>
              <a:t>| X09 | [谁说上海人只喝咖啡？上海本地茶饮大起底](https://www.xiaohongshu.com/explore/6a3d11cf0000000007024595)&lt;br&gt;HuoMie；06-26，年份未显示 | 茶饮编辑清单：沪上阿姨、裕莲、桂桂茶、红茶公司等作检索线索，不把14品牌全加主线，不冒充官方起源证明。桂桂茶与桂源铺关系未证实。 |</a:t>
            </a:r>
          </a:p>
          <a:p xmlns:a="http://schemas.openxmlformats.org/drawingml/2006/main">
            <a:r>
              <a:t>| X10 | [上海豫园 \| 反复去吃的8家（人均几十💰）](https://www.xiaohongshu.com/explore/69fed3b00000000037034cd9)&lt;br&gt;小居吃八方🍜；05-09，年份未显示 | 实际文字列6家。南翔鲜肉小笼、沈大成条头糕／双酿团与X02交叉；裕莲琥珀奶茶、焦糖可颂蛋挞单篇候选。含推广语气，不采人均保证和排名。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计候选：`第1次来上海怎么吃⁉️48h逛吃17家美食攻略`文字仅标签，未审全部图片；`上海必喝奶茶前五名`主要视频，未完整观看；`南京东路！！！本地人常去吃的9家`打开后连接中断，未读正文。未将这些标题算已读攻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**对本方案的实际影响：** 增加白玉兰／御桥酒店检索候选与价位筛选；D2选南翔或大壶春、沈大成与裕莲顺路；D3安福逐店西到东，预约不顺路则删；D5保留ALTER与富民蕾虎二选一线；阿姨本溪店跨区替换；迪士尼携带规则与早鸟产品线索改用已读官方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小红书摘要与审读范围保存在本地`research/xhs-reviewed.json`，不转载整篇文章、图片或账户私人信息。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正文未转载第三方完整文章，仅保留链接与简短审读摘要。主文请见 [上海10月下旬轻松旅行攻略](上海10月下旬轻松旅行攻略.md)。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小红书审读记录：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"X01",</a:t>
            </a:r>
          </a:p>
          <a:p xmlns:a="http://schemas.openxmlformats.org/drawingml/2006/main">
            <a:r>
              <a:t>    "title": "上海 3-5 天慢游攻略（都市漫游版）",</a:t>
            </a:r>
          </a:p>
          <a:p xmlns:a="http://schemas.openxmlformats.org/drawingml/2006/main">
            <a:r>
              <a:t>    "author": "小羊的城市笔记",</a:t>
            </a:r>
          </a:p>
          <a:p xmlns:a="http://schemas.openxmlformats.org/drawingml/2006/main">
            <a:r>
              <a:t>    "date": "09-17，页面未显示年份",</a:t>
            </a:r>
          </a:p>
          <a:p xmlns:a="http://schemas.openxmlformats.org/drawingml/2006/main">
            <a:r>
              <a:t>    "url": "https://www.xiaohongshu.com/explore/6aab687b000000002902c2b1",</a:t>
            </a:r>
          </a:p>
          <a:p xmlns:a="http://schemas.openxmlformats.org/drawingml/2006/main">
            <a:r>
              <a:t>    "read_scope": "文字正文；未逐张审读16幅图片",</a:t>
            </a:r>
          </a:p>
          <a:p xmlns:a="http://schemas.openxmlformats.org/drawingml/2006/main">
            <a:r>
              <a:t>    "kind": "含AI生成声明的综合整理",</a:t>
            </a:r>
          </a:p>
          <a:p xmlns:a="http://schemas.openxmlformats.org/drawingml/2006/main">
            <a:r>
              <a:t>    "adopt": "按市区与乐园分基地，武康安福单独留时段；大壶春、南翔、上海老饭店、光明邨作为餐饮线索。",</a:t>
            </a:r>
          </a:p>
          <a:p xmlns:a="http://schemas.openxmlformats.org/drawingml/2006/main">
            <a:r>
              <a:t>    "reject": "不照搬同日跨区密集路线、早享固定规则与未核价目。"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"X02",</a:t>
            </a:r>
          </a:p>
          <a:p xmlns:a="http://schemas.openxmlformats.org/drawingml/2006/main">
            <a:r>
              <a:t>    "title": "上海三日游（含迪士尼）纪实版攻略！",</a:t>
            </a:r>
          </a:p>
          <a:p xmlns:a="http://schemas.openxmlformats.org/drawingml/2006/main">
            <a:r>
              <a:t>    "author": "horologe",</a:t>
            </a:r>
          </a:p>
          <a:p xmlns:a="http://schemas.openxmlformats.org/drawingml/2006/main">
            <a:r>
              <a:t>    "date": "04-24，页面未显示年份",</a:t>
            </a:r>
          </a:p>
          <a:p xmlns:a="http://schemas.openxmlformats.org/drawingml/2006/main">
            <a:r>
              <a:t>    "url": "https://www.xiaohongshu.com/explore/69eb7365000000003502b572",</a:t>
            </a:r>
          </a:p>
          <a:p xmlns:a="http://schemas.openxmlformats.org/drawingml/2006/main">
            <a:r>
              <a:t>    "read_scope": "文字正文；未逐张审读12幅图片",</a:t>
            </a:r>
          </a:p>
          <a:p xmlns:a="http://schemas.openxmlformats.org/drawingml/2006/main">
            <a:r>
              <a:t>    "kind": "实游叙述",</a:t>
            </a:r>
          </a:p>
          <a:p xmlns:a="http://schemas.openxmlformats.org/drawingml/2006/main">
            <a:r>
              <a:t>    "adopt": "市区白玉兰南京东路外滩店、乐园前换如家御桥店为住宿经验线索；南翔、大壶春豫园店、沈大成、德兴馆、味香斋；雨雾会影响外滩观景，不为跨区吃饭牺牲半日。",</a:t>
            </a:r>
          </a:p>
          <a:p xmlns:a="http://schemas.openxmlformats.org/drawingml/2006/main">
            <a:r>
              <a:t>    "reject": "不采用末班车个例、错误或含糊的站名店名及三日紧凑节奏；原文光明屯应与地图核对。"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"X03",</a:t>
            </a:r>
          </a:p>
          <a:p xmlns:a="http://schemas.openxmlformats.org/drawingml/2006/main">
            <a:r>
              <a:t>    "title": "2026｜上海买手店指南",</a:t>
            </a:r>
          </a:p>
          <a:p xmlns:a="http://schemas.openxmlformats.org/drawingml/2006/main">
            <a:r>
              <a:t>    "author": "buyer shop guide",</a:t>
            </a:r>
          </a:p>
          <a:p xmlns:a="http://schemas.openxmlformats.org/drawingml/2006/main">
            <a:r>
              <a:t>    "date": "09-17，标题写2026，页面日期未显示年份",</a:t>
            </a:r>
          </a:p>
          <a:p xmlns:a="http://schemas.openxmlformats.org/drawingml/2006/main">
            <a:r>
              <a:t>    "url": "https://www.xiaohongshu.com/explore/6aabd8480000000026014835",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"编辑型门店清单",</a:t>
            </a:r>
          </a:p>
          <a:p xmlns:a="http://schemas.openxmlformats.org/drawingml/2006/main">
            <a:r>
              <a:t>    "adopt": "in the PARK：安福路322号6号楼1楼；LABELHOOD：富民路184号；ALTER：马当路245号新天地L116；只放对应街区，不全城串店。",</a:t>
            </a:r>
          </a:p>
          <a:p xmlns:a="http://schemas.openxmlformats.org/drawingml/2006/main">
            <a:r>
              <a:t>    "reject": "地址为单篇资料线索，未核实时营业；不采用独家、顶尖或品质评价。"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"X04",</a:t>
            </a:r>
          </a:p>
          <a:p xmlns:a="http://schemas.openxmlformats.org/drawingml/2006/main">
            <a:r>
              <a:t>    "title": "藏在安福路老洋房里的………",</a:t>
            </a:r>
          </a:p>
          <a:p xmlns:a="http://schemas.openxmlformats.org/drawingml/2006/main">
            <a:r>
              <a:t>    "author": "嘿Will",</a:t>
            </a:r>
          </a:p>
          <a:p xmlns:a="http://schemas.openxmlformats.org/drawingml/2006/main">
            <a:r>
              <a:t>    "date": "08-27，页面未显示年份",</a:t>
            </a:r>
          </a:p>
          <a:p xmlns:a="http://schemas.openxmlformats.org/drawingml/2006/main">
            <a:r>
              <a:t>    "url": "https://www.xiaohongshu.com/explore/6a90107e000000001f005d77",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"银饰探店，推广语气",</a:t>
            </a:r>
          </a:p>
          <a:p xmlns:a="http://schemas.openxmlformats.org/drawingml/2006/main">
            <a:r>
              <a:t>    "adopt": "RONIN MADE：安福路275号5弄1楼；文字给11–19点并强调公众号提前预约，与X06同地址交叉。",</a:t>
            </a:r>
          </a:p>
          <a:p xmlns:a="http://schemas.openxmlformats.org/drawingml/2006/main">
            <a:r>
              <a:t>    "reject": "营业时间仍需店方确认；不把主观高级感作为品质事实。"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"X05",</a:t>
            </a:r>
          </a:p>
          <a:p xmlns:a="http://schemas.openxmlformats.org/drawingml/2006/main">
            <a:r>
              <a:t>    "title": "安福路这家法式买手店选品真的绝了",</a:t>
            </a:r>
          </a:p>
          <a:p xmlns:a="http://schemas.openxmlformats.org/drawingml/2006/main">
            <a:r>
              <a:t>    "author": "CSYSeLECTED",</a:t>
            </a:r>
          </a:p>
          <a:p xmlns:a="http://schemas.openxmlformats.org/drawingml/2006/main">
            <a:r>
              <a:t>    "date": "01-18，页面未显示年份",</a:t>
            </a:r>
          </a:p>
          <a:p xmlns:a="http://schemas.openxmlformats.org/drawingml/2006/main">
            <a:r>
              <a:t>    "url": "https://www.xiaohongshu.com/explore/696cd4ab000000000a029ccf",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"店方自述",</a:t>
            </a:r>
          </a:p>
          <a:p xmlns:a="http://schemas.openxmlformats.org/drawingml/2006/main">
            <a:r>
              <a:t>    "adopt": "地址上海徐汇区安福路234号2楼；法式成衣、配饰作为逛店类型；放D3安福路东行路段。",</a:t>
            </a:r>
          </a:p>
          <a:p xmlns:a="http://schemas.openxmlformats.org/drawingml/2006/main">
            <a:r>
              <a:t>    "reject": "品牌来源、材质与营销品质未独立核实，营业需地图或店方复核。"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"X06",</a:t>
            </a:r>
          </a:p>
          <a:p xmlns:a="http://schemas.openxmlformats.org/drawingml/2006/main">
            <a:r>
              <a:t>    "title": "安福路伴手礼，藏在老洋房里的宝藏银饰店💍",</a:t>
            </a:r>
          </a:p>
          <a:p xmlns:a="http://schemas.openxmlformats.org/drawingml/2006/main">
            <a:r>
              <a:t>    "author": "52Hz🐳",</a:t>
            </a:r>
          </a:p>
          <a:p xmlns:a="http://schemas.openxmlformats.org/drawingml/2006/main">
            <a:r>
              <a:t>    "date": "6天前，2026-10-13访问时的相对日期",</a:t>
            </a:r>
          </a:p>
          <a:p xmlns:a="http://schemas.openxmlformats.org/drawingml/2006/main">
            <a:r>
              <a:t>    "url": "https://www.xiaohongshu.com/explore/6ac62f1b000000001800788e",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"银饰探店，疑似推广",</a:t>
            </a:r>
          </a:p>
          <a:p xmlns:a="http://schemas.openxmlformats.org/drawingml/2006/main">
            <a:r>
              <a:t>    "adopt": "RONIN MADE Lounge同为安福路275号5弄1楼、11–19点、预约制，支持定位和提前联系。",</a:t>
            </a:r>
          </a:p>
          <a:p xmlns:a="http://schemas.openxmlformats.org/drawingml/2006/main">
            <a:r>
              <a:t>    "reject": "明星来过等传闻不采；两篇相似推广不算独立品质背书。"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"X07",</a:t>
            </a:r>
          </a:p>
          <a:p xmlns:a="http://schemas.openxmlformats.org/drawingml/2006/main">
            <a:r>
              <a:t>    "title": "杨浦📍本溪路本地人才懂的四家宝藏老店🍜🍧",</a:t>
            </a:r>
          </a:p>
          <a:p xmlns:a="http://schemas.openxmlformats.org/drawingml/2006/main">
            <a:r>
              <a:t>    "author": "纯纯爱溜达",</a:t>
            </a:r>
          </a:p>
          <a:p xmlns:a="http://schemas.openxmlformats.org/drawingml/2006/main">
            <a:r>
              <a:t>    "date": "05-14，页面未显示年份",</a:t>
            </a:r>
          </a:p>
          <a:p xmlns:a="http://schemas.openxmlformats.org/drawingml/2006/main">
            <a:r>
              <a:t>    "url": "https://www.xiaohongshu.com/explore/6a05df83000000003601d7ca",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"街区饮食整理",</a:t>
            </a:r>
          </a:p>
          <a:p xmlns:a="http://schemas.openxmlformats.org/drawingml/2006/main">
            <a:r>
              <a:t>    "adopt": "阿姨奶茶：本溪路272号，血糯米奶茶；本溪路258号油豆腐粉丝汤作为同街参考。杨浦跨区，只作替换，不塞入D3。",</a:t>
            </a:r>
          </a:p>
          <a:p xmlns:a="http://schemas.openxmlformats.org/drawingml/2006/main">
            <a:r>
              <a:t>    "reject": "闭眼不踩雷等承诺不采，未取得店方当前营业；夏日木梨不作为十月必吃。"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"X08",</a:t>
            </a:r>
          </a:p>
          <a:p xmlns:a="http://schemas.openxmlformats.org/drawingml/2006/main">
            <a:r>
              <a:t>    "title": "是阿姨奶茶不是滬上阿姨",</a:t>
            </a:r>
          </a:p>
          <a:p xmlns:a="http://schemas.openxmlformats.org/drawingml/2006/main">
            <a:r>
              <a:t>    "author": "逸仙三民路富江五角場宇宙中心花灑薄荷糖大浴場支配",</a:t>
            </a:r>
          </a:p>
          <a:p xmlns:a="http://schemas.openxmlformats.org/drawingml/2006/main">
            <a:r>
              <a:t>    "date": "09-30，页面未显示年份",</a:t>
            </a:r>
          </a:p>
          <a:p xmlns:a="http://schemas.openxmlformats.org/drawingml/2006/main">
            <a:r>
              <a:t>    "url": "https://www.xiaohongshu.com/explore/6abd23a30000000001008123",</a:t>
            </a:r>
          </a:p>
          <a:p xmlns:a="http://schemas.openxmlformats.org/drawingml/2006/main">
            <a:r>
              <a:t>    "read_scope": "短文字正文和甜爱路标签",</a:t>
            </a:r>
          </a:p>
          <a:p xmlns:a="http://schemas.openxmlformats.org/drawingml/2006/main">
            <a:r>
              <a:t>    "kind": "短体验，不计入实质旅行攻略",</a:t>
            </a:r>
          </a:p>
          <a:p xmlns:a="http://schemas.openxmlformats.org/drawingml/2006/main">
            <a:r>
              <a:t>    "adopt": "仅支持名称区别，导航不得将阿姨奶茶与沪上阿姨混用。",</a:t>
            </a:r>
          </a:p>
          <a:p xmlns:a="http://schemas.openxmlformats.org/drawingml/2006/main">
            <a:r>
              <a:t>    "reject": "不给完整地址、起源或品质排名。"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"X09",</a:t>
            </a:r>
          </a:p>
          <a:p xmlns:a="http://schemas.openxmlformats.org/drawingml/2006/main">
            <a:r>
              <a:t>    "title": "谁说上海人只喝咖啡？上海本地茶饮大起底",</a:t>
            </a:r>
          </a:p>
          <a:p xmlns:a="http://schemas.openxmlformats.org/drawingml/2006/main">
            <a:r>
              <a:t>    "author": "HuoMie",</a:t>
            </a:r>
          </a:p>
          <a:p xmlns:a="http://schemas.openxmlformats.org/drawingml/2006/main">
            <a:r>
              <a:t>    "date": "06-26，页面未显示年份",</a:t>
            </a:r>
          </a:p>
          <a:p xmlns:a="http://schemas.openxmlformats.org/drawingml/2006/main">
            <a:r>
              <a:t>    "url": "https://www.xiaohongshu.com/explore/6a3d11cf0000000007024595",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"茶饮编辑清单",</a:t>
            </a:r>
          </a:p>
          <a:p xmlns:a="http://schemas.openxmlformats.org/drawingml/2006/main">
            <a:r>
              <a:t>    "adopt": "裕莲茶楼、桂桂茶、红茶公司、沪上阿姨等作为上海茶饮检索线索；清单不等于品牌起源证明。",</a:t>
            </a:r>
          </a:p>
          <a:p xmlns:a="http://schemas.openxmlformats.org/drawingml/2006/main">
            <a:r>
              <a:t>    "reject": "14品牌不全纳主线，茉酸奶等并非奶茶；没有地址或产品的清单不作逐店路线。"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"X10",</a:t>
            </a:r>
          </a:p>
          <a:p xmlns:a="http://schemas.openxmlformats.org/drawingml/2006/main">
            <a:r>
              <a:t>    "title": "上海豫园 | 反复去吃的8家（人均几十💰）",</a:t>
            </a:r>
          </a:p>
          <a:p xmlns:a="http://schemas.openxmlformats.org/drawingml/2006/main">
            <a:r>
              <a:t>    "author": "小居吃八方🍜",</a:t>
            </a:r>
          </a:p>
          <a:p xmlns:a="http://schemas.openxmlformats.org/drawingml/2006/main">
            <a:r>
              <a:t>    "date": "05-09，页面未显示年份",</a:t>
            </a:r>
          </a:p>
          <a:p xmlns:a="http://schemas.openxmlformats.org/drawingml/2006/main">
            <a:r>
              <a:t>    "url": "https://www.xiaohongshu.com/explore/69fed3b00000000037034cd9",</a:t>
            </a:r>
          </a:p>
          <a:p xmlns:a="http://schemas.openxmlformats.org/drawingml/2006/main">
            <a:r>
              <a:t>    "read_scope": "文字正文，实际列6家",</a:t>
            </a:r>
          </a:p>
          <a:p xmlns:a="http://schemas.openxmlformats.org/drawingml/2006/main">
            <a:r>
              <a:t>    "kind": "餐饮整理，含推广语气",</a:t>
            </a:r>
          </a:p>
          <a:p xmlns:a="http://schemas.openxmlformats.org/drawingml/2006/main">
            <a:r>
              <a:t>    "adopt": "南翔鲜肉小笼、沈大成条头糕/双酿团与X02交叉；裕莲茶楼琥珀奶茶、焦糖可颂蛋挞为豫园顺路候选。",</a:t>
            </a:r>
          </a:p>
          <a:p xmlns:a="http://schemas.openxmlformats.org/drawingml/2006/main">
            <a:r>
              <a:t>    "reject": "标题8家与正文6家不一致；外滩家宴、李百蟹等不据营销排名升级为必吃，价格不保证。"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2275c242746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504bcb34749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36b2bb63740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49b7b568045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5e222fcee47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97247c0fc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778D6B-81CC-447C-B76C-9C0FEA6E8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CFD063-BEC4-4E3C-9AD8-882CAA451D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05F113-208B-4207-B8BE-F0B3808B4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6074AA-7162-4169-8D59-975E32340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C2A0FA-3D7E-47A3-83ED-57B4DD61E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2BF8E0-2D74-4E80-B281-19C0BA418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46B664-783F-4FF9-9A72-9A4ACCAA4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F72064-E9B8-4759-9BDD-B813CE225B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3961F4-39A4-4254-8C2E-2A22D2934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6D0D0-69EF-4355-9FBC-4584EC020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0f7af46f294192" /><Relationship Type="http://schemas.openxmlformats.org/officeDocument/2006/relationships/slideLayout" Target="/ppt/slideLayouts/slideLayout1.xml" Id="R5145c8f2841a4ac4" /><Relationship Type="http://schemas.openxmlformats.org/officeDocument/2006/relationships/slideLayout" Target="/ppt/slideLayouts/slideLayout2.xml" Id="R844379c2c33d4d5c" /><Relationship Type="http://schemas.openxmlformats.org/officeDocument/2006/relationships/slideLayout" Target="/ppt/slideLayouts/slideLayout3.xml" Id="R9faf1c6e668640ab" /><Relationship Type="http://schemas.openxmlformats.org/officeDocument/2006/relationships/slideLayout" Target="/ppt/slideLayouts/slideLayout4.xml" Id="Rd5e715e8bd0345ba" /><Relationship Type="http://schemas.openxmlformats.org/officeDocument/2006/relationships/slideLayout" Target="/ppt/slideLayouts/slideLayout5.xml" Id="R1d377b07945f45d6" /><Relationship Type="http://schemas.openxmlformats.org/officeDocument/2006/relationships/slideLayout" Target="/ppt/slideLayouts/slideLayout6.xml" Id="R787b8fc37c03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5c8f2841a4ac4"/>
    <p:sldLayoutId xmlns:r="http://schemas.openxmlformats.org/officeDocument/2006/relationships" id="2147483650" r:id="R844379c2c33d4d5c"/>
    <p:sldLayoutId xmlns:r="http://schemas.openxmlformats.org/officeDocument/2006/relationships" id="2147483651" r:id="R9faf1c6e668640ab"/>
    <p:sldLayoutId xmlns:r="http://schemas.openxmlformats.org/officeDocument/2006/relationships" id="2147483652" r:id="Rd5e715e8bd0345ba"/>
    <p:sldLayoutId xmlns:r="http://schemas.openxmlformats.org/officeDocument/2006/relationships" id="2147483653" r:id="R1d377b07945f45d6"/>
    <p:sldLayoutId xmlns:r="http://schemas.openxmlformats.org/officeDocument/2006/relationships" id="2147483654" r:id="R787b8fc37c03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9eada4d0f447a" /><Relationship Type="http://schemas.openxmlformats.org/officeDocument/2006/relationships/notesSlide" Target="/ppt/notesSlides/notesSlide1.xml" Id="R8acd4127021441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c349777fd4660" /><Relationship Type="http://schemas.openxmlformats.org/officeDocument/2006/relationships/notesSlide" Target="/ppt/notesSlides/notesSlide2.xml" Id="Re6c941e3dc81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48622402f4a15" /><Relationship Type="http://schemas.openxmlformats.org/officeDocument/2006/relationships/notesSlide" Target="/ppt/notesSlides/notesSlide3.xml" Id="Ra14c30871b14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40727763d4135" /><Relationship Type="http://schemas.openxmlformats.org/officeDocument/2006/relationships/notesSlide" Target="/ppt/notesSlides/notesSlide4.xml" Id="R0be95cb2a8ca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314cdbcc9491e" /><Relationship Type="http://schemas.openxmlformats.org/officeDocument/2006/relationships/notesSlide" Target="/ppt/notesSlides/notesSlide5.xml" Id="R931e97b4fabf4f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e8f4d58504e7a" /><Relationship Type="http://schemas.openxmlformats.org/officeDocument/2006/relationships/notesSlide" Target="/ppt/notesSlides/notesSlide6.xml" Id="Rd15938472597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8362bc78646c4" /><Relationship Type="http://schemas.openxmlformats.org/officeDocument/2006/relationships/hyperlink" Target="https://uri.amap.com/search?keyword=%E8%B1%AB%E5%9B%AD&amp;city=%E4%B8%8A%E6%B5%B7&amp;view=map" TargetMode="External" Id="R4efcbca1eb564537" /><Relationship Type="http://schemas.openxmlformats.org/officeDocument/2006/relationships/hyperlink" Target="https://uri.amap.com/search?keyword=%E5%A4%96%E6%BB%A9&amp;city=%E4%B8%8A%E6%B5%B7&amp;view=map" TargetMode="External" Id="Rf2105e7b17e045f6" /><Relationship Type="http://schemas.openxmlformats.org/officeDocument/2006/relationships/hyperlink" Target="https://uri.amap.com/search?keyword=%E6%B2%88%E5%A4%A7%E6%88%90%E5%8D%97%E4%BA%AC%E4%B8%9C%E8%B7%AF&amp;city=%E4%B8%8A%E6%B5%B7&amp;view=map" TargetMode="External" Id="R950d46b18bb84a7c" /><Relationship Type="http://schemas.openxmlformats.org/officeDocument/2006/relationships/notesSlide" Target="/ppt/notesSlides/notesSlide7.xml" Id="R296ca5c18a4f47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66ef6f70941c6" /><Relationship Type="http://schemas.openxmlformats.org/officeDocument/2006/relationships/hyperlink" Target="https://uri.amap.com/search?keyword=%E5%8D%97%E7%BF%94%E9%A6%92%E5%A4%B4%E5%BA%97%E8%B1%AB%E5%9B%AD&amp;city=%E4%B8%8A%E6%B5%B7&amp;view=map" TargetMode="External" Id="R0e500d88382e4d53" /><Relationship Type="http://schemas.openxmlformats.org/officeDocument/2006/relationships/hyperlink" Target="https://uri.amap.com/search?keyword=%E5%A4%A7%E5%A3%B6%E6%98%A5%E8%B1%AB%E5%9B%AD%E5%BA%97&amp;city=%E4%B8%8A%E6%B5%B7&amp;view=map" TargetMode="External" Id="R193bb456d9aa439e" /><Relationship Type="http://schemas.openxmlformats.org/officeDocument/2006/relationships/hyperlink" Target="https://uri.amap.com/search?keyword=%E8%A3%95%E8%8E%B2%E8%8C%B6%E6%A5%BC%E8%B1%AB%E5%9B%AD&amp;city=%E4%B8%8A%E6%B5%B7&amp;view=map" TargetMode="External" Id="R9b5abc7cbe704f96" /><Relationship Type="http://schemas.openxmlformats.org/officeDocument/2006/relationships/notesSlide" Target="/ppt/notesSlides/notesSlide8.xml" Id="Re8fff9f1ebb14a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d7564fe2b4775" /><Relationship Type="http://schemas.openxmlformats.org/officeDocument/2006/relationships/hyperlink" Target="https://uri.amap.com/search?keyword=%E6%AD%A6%E5%BA%B7%E5%A4%A7%E6%A5%BC&amp;city=%E4%B8%8A%E6%B5%B7&amp;view=map" TargetMode="External" Id="R9689eaca08ab478e" /><Relationship Type="http://schemas.openxmlformats.org/officeDocument/2006/relationships/hyperlink" Target="https://uri.amap.com/search?keyword=in%20the%20PARK%E5%AE%89%E7%A6%8F%E8%B7%AF322%E5%8F%B7&amp;city=%E4%B8%8A%E6%B5%B7&amp;view=map" TargetMode="External" Id="R4707d0caaf0b456b" /><Relationship Type="http://schemas.openxmlformats.org/officeDocument/2006/relationships/hyperlink" Target="https://uri.amap.com/search?keyword=%E4%B9%8C%E9%B2%81%E6%9C%A8%E9%BD%90%E4%B8%AD%E8%B7%AF&amp;city=%E4%B8%8A%E6%B5%B7&amp;view=map" TargetMode="External" Id="R7be0eb03078d492b" /><Relationship Type="http://schemas.openxmlformats.org/officeDocument/2006/relationships/notesSlide" Target="/ppt/notesSlides/notesSlide9.xml" Id="Rff1563a2954a49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eb17a19654974" /><Relationship Type="http://schemas.openxmlformats.org/officeDocument/2006/relationships/hyperlink" Target="https://uri.amap.com/search?keyword=in%20the%20PARK%E5%AE%89%E7%A6%8F%E8%B7%AF322%E5%8F%B7&amp;city=%E4%B8%8A%E6%B5%B7&amp;view=map" TargetMode="External" Id="Rca20ef7432ad40d3" /><Relationship Type="http://schemas.openxmlformats.org/officeDocument/2006/relationships/hyperlink" Target="https://uri.amap.com/search?keyword=RONIN%20MADE%E5%AE%89%E7%A6%8F%E8%B7%AF275%E5%8F%B75%E5%BC%84&amp;city=%E4%B8%8A%E6%B5%B7&amp;view=map" TargetMode="External" Id="R568feb6b83b34d52" /><Relationship Type="http://schemas.openxmlformats.org/officeDocument/2006/relationships/hyperlink" Target="https://uri.amap.com/search?keyword=CSYSeLECTED%E5%AE%89%E7%A6%8F%E8%B7%AF234%E5%8F%B7&amp;city=%E4%B8%8A%E6%B5%B7&amp;view=map" TargetMode="External" Id="Rd362738b248947a5" /><Relationship Type="http://schemas.openxmlformats.org/officeDocument/2006/relationships/notesSlide" Target="/ppt/notesSlides/notesSlide10.xml" Id="R9af120418ce244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f912f699d4b42" /><Relationship Type="http://schemas.openxmlformats.org/officeDocument/2006/relationships/hyperlink" Target="https://uri.amap.com/search?keyword=%E6%AD%A3%E5%A4%A7%E5%B9%BF%E5%9C%BA&amp;city=%E4%B8%8A%E6%B5%B7&amp;view=map" TargetMode="External" Id="Rede04d4a411645fc" /><Relationship Type="http://schemas.openxmlformats.org/officeDocument/2006/relationships/hyperlink" Target="https://uri.amap.com/search?keyword=%E4%B8%8A%E6%B5%B7%E4%B8%AD%E5%BF%83%E5%A4%A7%E5%8E%A6&amp;city=%E4%B8%8A%E6%B5%B7&amp;view=map" TargetMode="External" Id="Rb828854e5acd486b" /><Relationship Type="http://schemas.openxmlformats.org/officeDocument/2006/relationships/hyperlink" Target="https://uri.amap.com/search?keyword=%E9%99%86%E5%AE%B6%E5%98%B4%E6%BB%A8%E6%B1%9F%E5%A4%A7%E9%81%93&amp;city=%E4%B8%8A%E6%B5%B7&amp;view=map" TargetMode="External" Id="Re68a240959bf4d79" /><Relationship Type="http://schemas.openxmlformats.org/officeDocument/2006/relationships/notesSlide" Target="/ppt/notesSlides/notesSlide11.xml" Id="Rcfbcfe1a6ec94a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c3ae2d5924310" /><Relationship Type="http://schemas.openxmlformats.org/officeDocument/2006/relationships/hyperlink" Target="https://uri.amap.com/search?keyword=ALTER%E9%A9%AC%E5%BD%93%E8%B7%AF245%E5%8F%B7&amp;city=%E4%B8%8A%E6%B5%B7&amp;view=map" TargetMode="External" Id="Rc92bfeb0b4dc4df9" /><Relationship Type="http://schemas.openxmlformats.org/officeDocument/2006/relationships/hyperlink" Target="https://uri.amap.com/search?keyword=LABELHOOD%E5%AF%8C%E6%B0%91%E8%B7%AF184%E5%8F%B7&amp;city=%E4%B8%8A%E6%B5%B7&amp;view=map" TargetMode="External" Id="R99c5394445e94946" /><Relationship Type="http://schemas.openxmlformats.org/officeDocument/2006/relationships/notesSlide" Target="/ppt/notesSlides/notesSlide12.xml" Id="R13673da7cfa644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a384002ef4221" /><Relationship Type="http://schemas.openxmlformats.org/officeDocument/2006/relationships/notesSlide" Target="/ppt/notesSlides/notesSlide13.xml" Id="Rf6c14e2c3b8a46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871d110ca4da4" /><Relationship Type="http://schemas.openxmlformats.org/officeDocument/2006/relationships/hyperlink" Target="https://www.shanghaidisneyresort.com/zh-cn/commerce/product?id=ThemePark" TargetMode="External" Id="Rb949952cb9e3400b" /><Relationship Type="http://schemas.openxmlformats.org/officeDocument/2006/relationships/notesSlide" Target="/ppt/notesSlides/notesSlide14.xml" Id="Reea0d7d245e846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b49b330444228" /><Relationship Type="http://schemas.openxmlformats.org/officeDocument/2006/relationships/hyperlink" Target="https://www.shanghaidisneyresort.com/zh-cn/legal/park-rules/" TargetMode="External" Id="R50291e96d8bf4ad0" /><Relationship Type="http://schemas.openxmlformats.org/officeDocument/2006/relationships/notesSlide" Target="/ppt/notesSlides/notesSlide15.xml" Id="R6c536f57e56a4b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a0c20cf9f4be6" /><Relationship Type="http://schemas.openxmlformats.org/officeDocument/2006/relationships/notesSlide" Target="/ppt/notesSlides/notesSlide16.xml" Id="Rb9d2a28f92364f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948f014694db7" /><Relationship Type="http://schemas.openxmlformats.org/officeDocument/2006/relationships/notesSlide" Target="/ppt/notesSlides/notesSlide17.xml" Id="R2d62b9a285914e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aea33dd3c4add" /><Relationship Type="http://schemas.openxmlformats.org/officeDocument/2006/relationships/notesSlide" Target="/ppt/notesSlides/notesSlide18.xml" Id="Ra0c187dacdb543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71c61de9d41c5" /><Relationship Type="http://schemas.openxmlformats.org/officeDocument/2006/relationships/notesSlide" Target="/ppt/notesSlides/notesSlide19.xml" Id="R7f6ecb8393ed48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0929fab894f69" /><Relationship Type="http://schemas.openxmlformats.org/officeDocument/2006/relationships/notesSlide" Target="/ppt/notesSlides/notesSlide20.xml" Id="R7fca26356ce140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29fcdb2104e96" /><Relationship Type="http://schemas.openxmlformats.org/officeDocument/2006/relationships/notesSlide" Target="/ppt/notesSlides/notesSlide21.xml" Id="R357250f7a5024a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b859695e849a5" /><Relationship Type="http://schemas.openxmlformats.org/officeDocument/2006/relationships/notesSlide" Target="/ppt/notesSlides/notesSlide22.xml" Id="R87181c2d6ed549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cdab95e5a4e92" /><Relationship Type="http://schemas.openxmlformats.org/officeDocument/2006/relationships/notesSlide" Target="/ppt/notesSlides/notesSlide23.xml" Id="R24a35c7d39c747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0461b56cb4f9e" /><Relationship Type="http://schemas.openxmlformats.org/officeDocument/2006/relationships/notesSlide" Target="/ppt/notesSlides/notesSlide24.xml" Id="Rb8fe55c55cdd42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6626d9ec14719" /><Relationship Type="http://schemas.openxmlformats.org/officeDocument/2006/relationships/notesSlide" Target="/ppt/notesSlides/notesSlide25.xml" Id="R5a0d774ca9f643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905d126dd4195" /><Relationship Type="http://schemas.openxmlformats.org/officeDocument/2006/relationships/hyperlink" Target="https://www.shanghaidisneyresort.com/zh-cn/" TargetMode="External" Id="R4144894427e84622" /><Relationship Type="http://schemas.openxmlformats.org/officeDocument/2006/relationships/hyperlink" Target="https://www.shanghaidisneyresort.com/zh-cn/commerce/product?id=ThemePark" TargetMode="External" Id="R609193069407424f" /><Relationship Type="http://schemas.openxmlformats.org/officeDocument/2006/relationships/hyperlink" Target="https://www.shanghaidisneyresort.com/zh-cn/legal/park-rules/" TargetMode="External" Id="Rdf67883d2281424b" /><Relationship Type="http://schemas.openxmlformats.org/officeDocument/2006/relationships/hyperlink" Target="https://www.shmetro.com/" TargetMode="External" Id="R32e9f2098bce4def" /><Relationship Type="http://schemas.openxmlformats.org/officeDocument/2006/relationships/hyperlink" Target="https://www.xiaohongshu.com/explore/69eb7365000000003502b572" TargetMode="External" Id="Rc0ca356874544721" /><Relationship Type="http://schemas.openxmlformats.org/officeDocument/2006/relationships/notesSlide" Target="/ppt/notesSlides/notesSlide26.xml" Id="R7d1f93ef993544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上海">
            <a:extLst xmlns:a="http://schemas.openxmlformats.org/drawingml/2006/main">
              <a:ext uri="{FF2B5EF4-FFF2-40B4-BE49-F238E27FC236}">
                <a16:creationId xmlns:a16="http://schemas.microsoft.com/office/drawing/2014/main" id="{425DB57E-18A0-457A-930B-C3034E71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rPr>
              <a:t>上海</a:t>
            </a:r>
          </a:p>
        </p:txBody>
      </p:sp>
      <p:sp>
        <p:nvSpPr>
          <p:cNvPr id="2" name="十月下旬轻松旅行">
            <a:extLst xmlns:a="http://schemas.openxmlformats.org/drawingml/2006/main">
              <a:ext uri="{FF2B5EF4-FFF2-40B4-BE49-F238E27FC236}">
                <a16:creationId xmlns:a16="http://schemas.microsoft.com/office/drawing/2014/main" id="{9498AD73-CFDE-4512-B456-7B126CAE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rPr>
              <a:t>十月下旬轻松旅行</a:t>
            </a:r>
          </a:p>
        </p:txBody>
      </p:sp>
      <p:sp>
        <p:nvSpPr>
          <p:cNvPr id="3" name="成都出发，两人同行">
            <a:extLst xmlns:a="http://schemas.openxmlformats.org/drawingml/2006/main">
              <a:ext uri="{FF2B5EF4-FFF2-40B4-BE49-F238E27FC236}">
                <a16:creationId xmlns:a16="http://schemas.microsoft.com/office/drawing/2014/main" id="{DE6DCCBB-E0D6-47FE-844D-5F73037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rPr>
              <a:t>成都出发，两人同行</a:t>
            </a:r>
          </a:p>
        </p:txBody>
      </p:sp>
      <p:sp>
        <p:nvSpPr>
          <p:cNvPr id="4" name="7 天主方案，8 天可玩两日迪士尼">
            <a:extLst xmlns:a="http://schemas.openxmlformats.org/drawingml/2006/main">
              <a:ext uri="{FF2B5EF4-FFF2-40B4-BE49-F238E27FC236}">
                <a16:creationId xmlns:a16="http://schemas.microsoft.com/office/drawing/2014/main" id="{A5B4DD37-865B-49A5-ACF4-41205768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rPr>
              <a:t>7 天主方案，8 天可玩两日迪士尼</a:t>
            </a:r>
          </a:p>
        </p:txBody>
      </p:sp>
      <p:sp>
        <p:nvSpPr>
          <p:cNvPr id="5" name="示例日期 2026.10.23–10.29">
            <a:extLst xmlns:a="http://schemas.openxmlformats.org/drawingml/2006/main">
              <a:ext uri="{FF2B5EF4-FFF2-40B4-BE49-F238E27FC236}">
                <a16:creationId xmlns:a16="http://schemas.microsoft.com/office/drawing/2014/main" id="{7554A5AA-2AB5-4D46-9BF8-8FBE7357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rPr>
              <a:t>示例日期 2026.10.23–10.29</a:t>
            </a:r>
          </a:p>
        </p:txBody>
      </p:sp>
    </p:spTree>
    <p:extLst>
      <p:ext uri="{BB962C8B-B14F-4D97-AF65-F5344CB8AC3E}">
        <p14:creationId xmlns:p14="http://schemas.microsoft.com/office/powerpoint/2010/main" val="1160392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两段住宿，一次搬家">
            <a:extLst xmlns:a="http://schemas.openxmlformats.org/drawingml/2006/main">
              <a:ext uri="{FF2B5EF4-FFF2-40B4-BE49-F238E27FC236}">
                <a16:creationId xmlns:a16="http://schemas.microsoft.com/office/drawing/2014/main" id="{CD7308F1-6803-4D7F-A0D7-7A6B9AB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两段住宿，一次搬家</a:t>
            </a:r>
          </a:p>
        </p:txBody>
      </p:sp>
      <p:sp>
        <p:nvSpPr>
          <p:cNvPr id="2" name="每天一个主要街区，通常 10 点左右出门，迪士尼日单独调整">
            <a:extLst xmlns:a="http://schemas.openxmlformats.org/drawingml/2006/main">
              <a:ext uri="{FF2B5EF4-FFF2-40B4-BE49-F238E27FC236}">
                <a16:creationId xmlns:a16="http://schemas.microsoft.com/office/drawing/2014/main" id="{98DE791F-34B1-4F37-8DE4-08287D8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每天一个主要街区，通常 10 点左右出门，迪士尼日单独调整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B875A3CB-5632-49A4-8FDA-F89B5ED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A  市区连住 4 晚">
            <a:extLst xmlns:a="http://schemas.openxmlformats.org/drawingml/2006/main">
              <a:ext uri="{FF2B5EF4-FFF2-40B4-BE49-F238E27FC236}">
                <a16:creationId xmlns:a16="http://schemas.microsoft.com/office/drawing/2014/main" id="{95B0FF9D-F0BC-42DA-B193-354131B2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 市区连住 4 晚</a:t>
            </a:r>
          </a:p>
        </p:txBody>
      </p:sp>
      <p:sp>
        <p:nvSpPr>
          <p:cNvPr id="5" name="10/23 入住，10/27 退房&#10;大世界／老西门优先&#10;地标、街">
            <a:extLst xmlns:a="http://schemas.openxmlformats.org/drawingml/2006/main">
              <a:ext uri="{FF2B5EF4-FFF2-40B4-BE49-F238E27FC236}">
                <a16:creationId xmlns:a16="http://schemas.microsoft.com/office/drawing/2014/main" id="{EFDF3875-32DE-4489-AA1D-C07B28B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10/23 入住，10/27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大世界／老西门优先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地标、街区购物与上海小吃</a:t>
            </a:r>
          </a:p>
        </p:txBody>
      </p:sp>
      <p:sp>
        <p:nvSpPr>
          <p:cNvPr id="6" name="B  乐园周边 2–3 晚">
            <a:extLst xmlns:a="http://schemas.openxmlformats.org/drawingml/2006/main">
              <a:ext uri="{FF2B5EF4-FFF2-40B4-BE49-F238E27FC236}">
                <a16:creationId xmlns:a16="http://schemas.microsoft.com/office/drawing/2014/main" id="{23661DB6-7C2F-4688-A959-0C7BFCB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B  乐园周边 2–3 晚</a:t>
            </a:r>
          </a:p>
        </p:txBody>
      </p:sp>
      <p:sp>
        <p:nvSpPr>
          <p:cNvPr id="7" name="7 天版：10/27 入住，10/29 退房&#10;8 天版：延长至 ">
            <a:extLst xmlns:a="http://schemas.openxmlformats.org/drawingml/2006/main">
              <a:ext uri="{FF2B5EF4-FFF2-40B4-BE49-F238E27FC236}">
                <a16:creationId xmlns:a16="http://schemas.microsoft.com/office/drawing/2014/main" id="{2EE8B462-D183-4481-83C7-7C938369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7 天版：10/27 入住，10/29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 天版：延长至 10/30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康新公路／秀沿路近 11 号线</a:t>
            </a:r>
          </a:p>
        </p:txBody>
      </p:sp>
      <p:sp>
        <p:nvSpPr>
          <p:cNvPr id="8" name="D5 下午转场">
            <a:extLst xmlns:a="http://schemas.openxmlformats.org/drawingml/2006/main">
              <a:ext uri="{FF2B5EF4-FFF2-40B4-BE49-F238E27FC236}">
                <a16:creationId xmlns:a16="http://schemas.microsoft.com/office/drawing/2014/main" id="{6F3DB7ED-2F8E-4250-A4A6-C4EB2D0A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D5 下午转场</a:t>
            </a:r>
          </a:p>
        </p:txBody>
      </p:sp>
      <p:sp>
        <p:nvSpPr>
          <p:cNvPr id="9" name="午后安排 45–90 分钟休息，购物和小吃按体力删减。">
            <a:extLst xmlns:a="http://schemas.openxmlformats.org/drawingml/2006/main">
              <a:ext uri="{FF2B5EF4-FFF2-40B4-BE49-F238E27FC236}">
                <a16:creationId xmlns:a16="http://schemas.microsoft.com/office/drawing/2014/main" id="{11C453F5-8F78-4828-888F-576D28C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午后安排 45–90 分钟休息，购物和小吃按体力删减。</a:t>
            </a:r>
          </a:p>
        </p:txBody>
      </p:sp>
    </p:spTree>
    <p:extLst>
      <p:ext uri="{BB962C8B-B14F-4D97-AF65-F5344CB8AC3E}">
        <p14:creationId xmlns:p14="http://schemas.microsoft.com/office/powerpoint/2010/main" val="1368972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7 天行程总览">
            <a:extLst xmlns:a="http://schemas.openxmlformats.org/drawingml/2006/main">
              <a:ext uri="{FF2B5EF4-FFF2-40B4-BE49-F238E27FC236}">
                <a16:creationId xmlns:a16="http://schemas.microsoft.com/office/drawing/2014/main" id="{8DAFDFE5-2AE3-4D2A-B528-5D14C3F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7 天行程总览</a:t>
            </a:r>
          </a:p>
        </p:txBody>
      </p:sp>
      <p:sp>
        <p:nvSpPr>
          <p:cNvPr id="2" name="示例 10/23 出发，实际日期可整体平移">
            <a:extLst xmlns:a="http://schemas.openxmlformats.org/drawingml/2006/main">
              <a:ext uri="{FF2B5EF4-FFF2-40B4-BE49-F238E27FC236}">
                <a16:creationId xmlns:a16="http://schemas.microsoft.com/office/drawing/2014/main" id="{74D69872-FC73-4A5A-8F2F-E085F6E7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示例 10/23 出发，实际日期可整体平移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425ADDAB-07E1-4953-B7A1-5637436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AAE30-DDA1-444D-954D-B411F24A5DC6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6858000"/>
                <a:gridCol w="17145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当天重点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住哪里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 10/23 周五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抵达上海，酒店附近吃饭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 10/24 周六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豫园、外滩黄昏、南京东路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 10/25 周日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武康路、安福路与买手店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  10/26 周一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陆家嘴商场、三件套外观、滨江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  10/27 周二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淮海／新天地短逛，取行李转场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  10/28 周三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迪士尼 3 个目标，加看秀和午休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  10/29 周四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睡醒后返程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8 天版：D7 再入园，D8 返程。D5 仍是唯一搬酒店日。">
            <a:extLst xmlns:a="http://schemas.openxmlformats.org/drawingml/2006/main">
              <a:ext uri="{FF2B5EF4-FFF2-40B4-BE49-F238E27FC236}">
                <a16:creationId xmlns:a16="http://schemas.microsoft.com/office/drawing/2014/main" id="{015834B8-5213-42AC-A174-BEAB194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 天版：D7 再入园，D8 返程。D5 仍是唯一搬酒店日。</a:t>
            </a:r>
          </a:p>
        </p:txBody>
      </p:sp>
    </p:spTree>
    <p:extLst>
      <p:ext uri="{BB962C8B-B14F-4D97-AF65-F5344CB8AC3E}">
        <p14:creationId xmlns:p14="http://schemas.microsoft.com/office/powerpoint/2010/main" val="1483815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市区 A：大世界／老西门优先">
            <a:extLst xmlns:a="http://schemas.openxmlformats.org/drawingml/2006/main">
              <a:ext uri="{FF2B5EF4-FFF2-40B4-BE49-F238E27FC236}">
                <a16:creationId xmlns:a16="http://schemas.microsoft.com/office/drawing/2014/main" id="{C7C9A7E7-6A5F-4FB1-B390-C1A881E9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市区 A：大世界／老西门优先</a:t>
            </a:r>
          </a:p>
        </p:txBody>
      </p:sp>
      <p:sp>
        <p:nvSpPr>
          <p:cNvPr id="2" name="先筛 300–450 元／间／晚，再看整段 4 晚总价">
            <a:extLst xmlns:a="http://schemas.openxmlformats.org/drawingml/2006/main">
              <a:ext uri="{FF2B5EF4-FFF2-40B4-BE49-F238E27FC236}">
                <a16:creationId xmlns:a16="http://schemas.microsoft.com/office/drawing/2014/main" id="{74DC3779-838C-463B-9E73-C8A5098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先筛 300–450 元／间／晚，再看整段 4 晚总价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20222B17-62BF-4100-A3AD-D7ECF139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大世界站附近">
            <a:extLst xmlns:a="http://schemas.openxmlformats.org/drawingml/2006/main">
              <a:ext uri="{FF2B5EF4-FFF2-40B4-BE49-F238E27FC236}">
                <a16:creationId xmlns:a16="http://schemas.microsoft.com/office/drawing/2014/main" id="{C1DC118F-5C74-4DE1-B260-48C822E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大世界站附近</a:t>
            </a:r>
          </a:p>
        </p:txBody>
      </p:sp>
      <p:sp>
        <p:nvSpPr>
          <p:cNvPr id="5" name="8、14 号线&#10;去豫园、陆家嘴、淮海路方便&#10;适合把老城与市区购物">
            <a:extLst xmlns:a="http://schemas.openxmlformats.org/drawingml/2006/main">
              <a:ext uri="{FF2B5EF4-FFF2-40B4-BE49-F238E27FC236}">
                <a16:creationId xmlns:a16="http://schemas.microsoft.com/office/drawing/2014/main" id="{E497FC37-8B47-44DC-83B7-D917D36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8、14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去豫园、陆家嘴、淮海路方便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适合把老城与市区购物放在前半程</a:t>
            </a:r>
          </a:p>
        </p:txBody>
      </p:sp>
      <p:sp>
        <p:nvSpPr>
          <p:cNvPr id="6" name="老西门站附近">
            <a:extLst xmlns:a="http://schemas.openxmlformats.org/drawingml/2006/main">
              <a:ext uri="{FF2B5EF4-FFF2-40B4-BE49-F238E27FC236}">
                <a16:creationId xmlns:a16="http://schemas.microsoft.com/office/drawing/2014/main" id="{111621E6-857F-4EF6-8DF8-8524C42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老西门站附近</a:t>
            </a:r>
          </a:p>
        </p:txBody>
      </p:sp>
      <p:sp>
        <p:nvSpPr>
          <p:cNvPr id="7" name="8、10 号线&#10;10 号线接武康路入口交通大学站&#10;虹桥抵达时交通">
            <a:extLst xmlns:a="http://schemas.openxmlformats.org/drawingml/2006/main">
              <a:ext uri="{FF2B5EF4-FFF2-40B4-BE49-F238E27FC236}">
                <a16:creationId xmlns:a16="http://schemas.microsoft.com/office/drawing/2014/main" id="{70325A6C-EF9E-48DE-91FC-2FC05EA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98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8、10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号线接武康路入口交通大学站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虹桥抵达时交通便利</a:t>
            </a:r>
          </a:p>
        </p:txBody>
      </p:sp>
      <p:sp>
        <p:nvSpPr>
          <p:cNvPr id="8" name="筛选条件">
            <a:extLst xmlns:a="http://schemas.openxmlformats.org/drawingml/2006/main">
              <a:ext uri="{FF2B5EF4-FFF2-40B4-BE49-F238E27FC236}">
                <a16:creationId xmlns:a16="http://schemas.microsoft.com/office/drawing/2014/main" id="{C20D2122-F71F-44B7-BA88-C78CB07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筛选条件</a:t>
            </a:r>
          </a:p>
        </p:txBody>
      </p:sp>
      <p:sp>
        <p:nvSpPr>
          <p:cNvPr id="9" name="地铁口实际步行尽量 600 米内，有外窗、电梯、独立卫浴。&#10;看近">
            <a:extLst xmlns:a="http://schemas.openxmlformats.org/drawingml/2006/main">
              <a:ext uri="{FF2B5EF4-FFF2-40B4-BE49-F238E27FC236}">
                <a16:creationId xmlns:a16="http://schemas.microsoft.com/office/drawing/2014/main" id="{DB01B95E-C76A-4252-8E78-F7D7C8A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839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地铁口实际步行尽量 600 米内，有外窗、电梯、独立卫浴。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看近月卫生与隔音差评，确认取消条件和退房后寄存。</a:t>
            </a:r>
          </a:p>
        </p:txBody>
      </p:sp>
      <p:sp>
        <p:nvSpPr>
          <p:cNvPr id="10" name="预算外再扩大至豫园／陆家浜路。白玉兰南京东路外滩店仅作比较候选，">
            <a:extLst xmlns:a="http://schemas.openxmlformats.org/drawingml/2006/main">
              <a:ext uri="{FF2B5EF4-FFF2-40B4-BE49-F238E27FC236}">
                <a16:creationId xmlns:a16="http://schemas.microsoft.com/office/drawing/2014/main" id="{0D83F58D-C1C6-4724-A7A4-A83D2FD2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预算外再扩大至豫园／陆家浜路。白玉兰南京东路外滩店仅作比较候选，实时房价未核。</a:t>
            </a:r>
          </a:p>
        </p:txBody>
      </p:sp>
    </p:spTree>
    <p:extLst>
      <p:ext uri="{BB962C8B-B14F-4D97-AF65-F5344CB8AC3E}">
        <p14:creationId xmlns:p14="http://schemas.microsoft.com/office/powerpoint/2010/main" val="149609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乐园 B：近 11 号线更自主">
            <a:extLst xmlns:a="http://schemas.openxmlformats.org/drawingml/2006/main">
              <a:ext uri="{FF2B5EF4-FFF2-40B4-BE49-F238E27FC236}">
                <a16:creationId xmlns:a16="http://schemas.microsoft.com/office/drawing/2014/main" id="{A77D4975-DB49-4941-9FF9-CC828443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乐园 B：近 11 号线更自主</a:t>
            </a:r>
          </a:p>
        </p:txBody>
      </p:sp>
      <p:sp>
        <p:nvSpPr>
          <p:cNvPr id="2" name="筛选目标 250–400 元／间／晚，连续住 2 晚或 3 晚">
            <a:extLst xmlns:a="http://schemas.openxmlformats.org/drawingml/2006/main">
              <a:ext uri="{FF2B5EF4-FFF2-40B4-BE49-F238E27FC236}">
                <a16:creationId xmlns:a16="http://schemas.microsoft.com/office/drawing/2014/main" id="{8402F9A4-4A53-4406-B36E-3C3A911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筛选目标 250–400 元／间／晚，连续住 2 晚或 3 晚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B99836F6-7BF2-4E6B-85B1-9EF90C00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F4F3E-AC3C-40DF-9B64-7A4B18264477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352800"/>
                <a:gridCol w="44767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比较顺序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必须确认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康新公路／秀沿路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号线直达迪士尼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酒店到地铁口实走距离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御桥附近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11／18 号线</a:t>
                      </a:r>
                    </a:p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去乐园可乘 11 号线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完整分店位置与近月评价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川沙，接驳已落实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吃饭选择多，班车可省换乘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最早去程、夜间回程、收费、预约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川沙是 2 号线，迪士尼是 11 号线">
            <a:extLst xmlns:a="http://schemas.openxmlformats.org/drawingml/2006/main">
              <a:ext uri="{FF2B5EF4-FFF2-40B4-BE49-F238E27FC236}">
                <a16:creationId xmlns:a16="http://schemas.microsoft.com/office/drawing/2014/main" id="{DA1310A4-0CA6-4581-AC5C-19BB843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川沙是 2 号线，迪士尼是 11 号线</a:t>
            </a:r>
          </a:p>
        </p:txBody>
      </p:sp>
      <p:sp>
        <p:nvSpPr>
          <p:cNvPr id="6" name="酒店名含“迪士尼店”不代表位于乐园门口。如家御桥店仍须定位准确分">
            <a:extLst xmlns:a="http://schemas.openxmlformats.org/drawingml/2006/main">
              <a:ext uri="{FF2B5EF4-FFF2-40B4-BE49-F238E27FC236}">
                <a16:creationId xmlns:a16="http://schemas.microsoft.com/office/drawing/2014/main" id="{5F890700-1E82-4CD8-8C0A-FF3B34A0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酒店名含“迪士尼店”不代表位于乐园门口。如家御桥店仍须定位准确分店。</a:t>
            </a:r>
          </a:p>
        </p:txBody>
      </p:sp>
    </p:spTree>
    <p:extLst>
      <p:ext uri="{BB962C8B-B14F-4D97-AF65-F5344CB8AC3E}">
        <p14:creationId xmlns:p14="http://schemas.microsoft.com/office/powerpoint/2010/main" val="167727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1 抵达：入住后在附近吃饭">
            <a:extLst xmlns:a="http://schemas.openxmlformats.org/drawingml/2006/main">
              <a:ext uri="{FF2B5EF4-FFF2-40B4-BE49-F238E27FC236}">
                <a16:creationId xmlns:a16="http://schemas.microsoft.com/office/drawing/2014/main" id="{54EECE17-A65E-4E72-838A-A2FF4C3B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D1 抵达：入住后在附近吃饭</a:t>
            </a:r>
          </a:p>
        </p:txBody>
      </p:sp>
      <p:sp>
        <p:nvSpPr>
          <p:cNvPr id="2" name="成都 TFU／CTU，上海 SHA／PVG，比较含行李的往返总价">
            <a:extLst xmlns:a="http://schemas.openxmlformats.org/drawingml/2006/main">
              <a:ext uri="{FF2B5EF4-FFF2-40B4-BE49-F238E27FC236}">
                <a16:creationId xmlns:a16="http://schemas.microsoft.com/office/drawing/2014/main" id="{E33F996A-F808-479E-874C-3AC56311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成都 TFU／CTU，上海 SHA／PVG，比较含行李的往返总价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3CB75E4D-F6A9-4924-846A-6BE286E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" name="虹桥抵达">
            <a:extLst xmlns:a="http://schemas.openxmlformats.org/drawingml/2006/main">
              <a:ext uri="{FF2B5EF4-FFF2-40B4-BE49-F238E27FC236}">
                <a16:creationId xmlns:a16="http://schemas.microsoft.com/office/drawing/2014/main" id="{83845CB2-9436-4880-ADAF-C569D22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虹桥抵达</a:t>
            </a:r>
          </a:p>
        </p:txBody>
      </p:sp>
      <p:sp>
        <p:nvSpPr>
          <p:cNvPr id="5" name="10 号线到老西门／豫园&#10;住大世界可在老西门换 8 号线&#10;取行李">
            <a:extLst xmlns:a="http://schemas.openxmlformats.org/drawingml/2006/main">
              <a:ext uri="{FF2B5EF4-FFF2-40B4-BE49-F238E27FC236}">
                <a16:creationId xmlns:a16="http://schemas.microsoft.com/office/drawing/2014/main" id="{D2729A55-33A2-4943-812D-F75065F3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号线到老西门／豫园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住大世界可在老西门换 8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取行李后门到门预留 60–90 分钟</a:t>
            </a:r>
          </a:p>
        </p:txBody>
      </p:sp>
      <p:sp>
        <p:nvSpPr>
          <p:cNvPr id="6" name="浦东抵达">
            <a:extLst xmlns:a="http://schemas.openxmlformats.org/drawingml/2006/main">
              <a:ext uri="{FF2B5EF4-FFF2-40B4-BE49-F238E27FC236}">
                <a16:creationId xmlns:a16="http://schemas.microsoft.com/office/drawing/2014/main" id="{4103F1B2-BB84-42A9-969D-0C1C5858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383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浦东抵达</a:t>
            </a:r>
          </a:p>
        </p:txBody>
      </p:sp>
      <p:sp>
        <p:nvSpPr>
          <p:cNvPr id="7" name="2 号线到陆家嘴，换 14 号线&#10;到豫园／大世界，再走到酒店&#10;取">
            <a:extLst xmlns:a="http://schemas.openxmlformats.org/drawingml/2006/main">
              <a:ext uri="{FF2B5EF4-FFF2-40B4-BE49-F238E27FC236}">
                <a16:creationId xmlns:a16="http://schemas.microsoft.com/office/drawing/2014/main" id="{ECD67C06-5CAC-4393-8355-84CD398E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193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2 号线到陆家嘴，换 14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到豫园／大世界，再走到酒店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取行李后门到门预留 90–120 分钟</a:t>
            </a:r>
          </a:p>
        </p:txBody>
      </p:sp>
      <p:sp>
        <p:nvSpPr>
          <p:cNvPr id="8" name="附近晚餐">
            <a:extLst xmlns:a="http://schemas.openxmlformats.org/drawingml/2006/main">
              <a:ext uri="{FF2B5EF4-FFF2-40B4-BE49-F238E27FC236}">
                <a16:creationId xmlns:a16="http://schemas.microsoft.com/office/drawing/2014/main" id="{B2C20277-F726-4932-B434-E6AFC20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附近晚餐</a:t>
            </a:r>
          </a:p>
        </p:txBody>
      </p:sp>
      <p:sp>
        <p:nvSpPr>
          <p:cNvPr id="9" name="生煎配牛肉粉丝汤，或本帮小馆。大世界可搜云南南路。&#10;晚到或行李较">
            <a:extLst xmlns:a="http://schemas.openxmlformats.org/drawingml/2006/main">
              <a:ext uri="{FF2B5EF4-FFF2-40B4-BE49-F238E27FC236}">
                <a16:creationId xmlns:a16="http://schemas.microsoft.com/office/drawing/2014/main" id="{DD9494CD-80EA-4A24-9A8A-4EB99BE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生煎配牛肉粉丝汤，或本帮小馆。大世界可搜云南南路。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晚到或行李较多时，比较两人网约车费用，抵达日保留休息。</a:t>
            </a:r>
          </a:p>
        </p:txBody>
      </p:sp>
    </p:spTree>
    <p:extLst>
      <p:ext uri="{BB962C8B-B14F-4D97-AF65-F5344CB8AC3E}">
        <p14:creationId xmlns:p14="http://schemas.microsoft.com/office/powerpoint/2010/main" val="2095000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418F2-3816-4BD2-B1E9-E684527B86A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F552F-A9B2-4F6D-A42E-24ECF4D310C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0DE0C-881E-4023-B72D-1FBF6672806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2 老城、外滩与南京东路">
            <a:extLst xmlns:a="http://schemas.openxmlformats.org/drawingml/2006/main">
              <a:ext uri="{FF2B5EF4-FFF2-40B4-BE49-F238E27FC236}">
                <a16:creationId xmlns:a16="http://schemas.microsoft.com/office/drawing/2014/main" id="{5347708E-F750-49B0-953A-569C654F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老城、外滩与南京东路</a:t>
            </a:r>
          </a:p>
        </p:txBody>
      </p:sp>
      <p:sp>
        <p:nvSpPr>
          <p:cNvPr id="2" name="周六热门区域人多，园林／商城以一个为主">
            <a:extLst xmlns:a="http://schemas.openxmlformats.org/drawingml/2006/main">
              <a:ext uri="{FF2B5EF4-FFF2-40B4-BE49-F238E27FC236}">
                <a16:creationId xmlns:a16="http://schemas.microsoft.com/office/drawing/2014/main" id="{70259F68-F85C-4C20-9024-07C198D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周六热门区域人多，园林／商城以一个为主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C7B5C8D1-14CC-4C6C-89B5-AEBF20E1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1F56F67-FD8A-45BE-B41E-256A507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豫园片区">
            <a:extLst xmlns:a="http://schemas.openxmlformats.org/drawingml/2006/main">
              <a:ext uri="{FF2B5EF4-FFF2-40B4-BE49-F238E27FC236}">
                <a16:creationId xmlns:a16="http://schemas.microsoft.com/office/drawing/2014/main" id="{9956E57F-87B7-4107-9F73-27C752B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豫园片区</a:t>
            </a:r>
          </a:p>
        </p:txBody>
      </p:sp>
      <p:sp>
        <p:nvSpPr>
          <p:cNvPr id="6" name="10:00–13:00&#10;园林或商城&#10;小笼／生煎午餐">
            <a:extLst xmlns:a="http://schemas.openxmlformats.org/drawingml/2006/main">
              <a:ext uri="{FF2B5EF4-FFF2-40B4-BE49-F238E27FC236}">
                <a16:creationId xmlns:a16="http://schemas.microsoft.com/office/drawing/2014/main" id="{D337082B-9E79-4E96-B3F6-24F09156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10:00–13:00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园林或商城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小笼／生煎午餐</a:t>
            </a:r>
          </a:p>
        </p:txBody>
      </p:sp>
      <p:sp>
        <p:nvSpPr>
          <p:cNvPr id="7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D4F13D72-C7A7-445F-A707-A32A4471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fcbca1eb564537"/>
              </a:rPr>
              <a:t>地图搜索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0D78A77B-BC0E-45B4-A06B-8382BA8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 休息">
            <a:extLst xmlns:a="http://schemas.openxmlformats.org/drawingml/2006/main">
              <a:ext uri="{FF2B5EF4-FFF2-40B4-BE49-F238E27FC236}">
                <a16:creationId xmlns:a16="http://schemas.microsoft.com/office/drawing/2014/main" id="{7BFC39E8-41F6-4627-94E0-9CBE77F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休息</a:t>
            </a:r>
          </a:p>
        </p:txBody>
      </p:sp>
      <p:sp>
        <p:nvSpPr>
          <p:cNvPr id="10" name="13:30–15:30&#10;回酒店午休&#10;或就近坐 45–60 分钟">
            <a:extLst xmlns:a="http://schemas.openxmlformats.org/drawingml/2006/main">
              <a:ext uri="{FF2B5EF4-FFF2-40B4-BE49-F238E27FC236}">
                <a16:creationId xmlns:a16="http://schemas.microsoft.com/office/drawing/2014/main" id="{8629D079-11CC-473A-B941-68FA2EE7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13:30–15:30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回酒店午休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或就近坐 45–60 分钟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58684324-82B1-4717-967D-188BB799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外滩黄昏">
            <a:extLst xmlns:a="http://schemas.openxmlformats.org/drawingml/2006/main">
              <a:ext uri="{FF2B5EF4-FFF2-40B4-BE49-F238E27FC236}">
                <a16:creationId xmlns:a16="http://schemas.microsoft.com/office/drawing/2014/main" id="{99D10322-8BF4-49AF-97F0-13B24363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外滩黄昏</a:t>
            </a:r>
          </a:p>
        </p:txBody>
      </p:sp>
      <p:sp>
        <p:nvSpPr>
          <p:cNvPr id="13" name="16:00–18:00&#10;南京东路站向东&#10;建筑与江边短段">
            <a:extLst xmlns:a="http://schemas.openxmlformats.org/drawingml/2006/main">
              <a:ext uri="{FF2B5EF4-FFF2-40B4-BE49-F238E27FC236}">
                <a16:creationId xmlns:a16="http://schemas.microsoft.com/office/drawing/2014/main" id="{7F0B7793-E9AE-4E94-BBAD-4A054608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16:00–18:00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南京东路站向东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建筑与江边短段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EFB7DAF6-A8D7-4693-A3AC-9116FCA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2105e7b17e045f6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27DF6784-8CC6-4184-B7C5-CDD6C03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南京东路">
            <a:extLst xmlns:a="http://schemas.openxmlformats.org/drawingml/2006/main">
              <a:ext uri="{FF2B5EF4-FFF2-40B4-BE49-F238E27FC236}">
                <a16:creationId xmlns:a16="http://schemas.microsoft.com/office/drawing/2014/main" id="{9C126AEC-24B0-47D1-8672-7886751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南京东路</a:t>
            </a:r>
          </a:p>
        </p:txBody>
      </p:sp>
      <p:sp>
        <p:nvSpPr>
          <p:cNvPr id="17" name="18:00–20:00&#10;从江边向西夜逛&#10;吃晚饭、买少量糕团">
            <a:extLst xmlns:a="http://schemas.openxmlformats.org/drawingml/2006/main">
              <a:ext uri="{FF2B5EF4-FFF2-40B4-BE49-F238E27FC236}">
                <a16:creationId xmlns:a16="http://schemas.microsoft.com/office/drawing/2014/main" id="{71463DE8-AB44-4496-92B5-85DA862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18:00–20:00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从江边向西夜逛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吃晚饭、买少量糕团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E537FE23-CEB3-4F4D-9D35-D8E4BBC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0d46b18bb84a7c"/>
              </a:rPr>
              <a:t>地图搜索</a:t>
            </a:r>
          </a:p>
        </p:txBody>
      </p:sp>
      <p:sp>
        <p:nvSpPr>
          <p:cNvPr id="20" name="地铁">
            <a:extLst xmlns:a="http://schemas.openxmlformats.org/drawingml/2006/main">
              <a:ext uri="{FF2B5EF4-FFF2-40B4-BE49-F238E27FC236}">
                <a16:creationId xmlns:a16="http://schemas.microsoft.com/office/drawing/2014/main" id="{D1094046-F7A1-48F7-AA8F-B00765A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地铁</a:t>
            </a:r>
          </a:p>
        </p:txBody>
      </p:sp>
      <p:sp>
        <p:nvSpPr>
          <p:cNvPr id="22" name="地铁">
            <a:extLst xmlns:a="http://schemas.openxmlformats.org/drawingml/2006/main">
              <a:ext uri="{FF2B5EF4-FFF2-40B4-BE49-F238E27FC236}">
                <a16:creationId xmlns:a16="http://schemas.microsoft.com/office/drawing/2014/main" id="{3ED33142-F3E5-45D2-A7C6-3718B3E1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地铁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B7CC529E-8AC9-4624-A6F1-465A582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82523412-3504-490E-B8A4-FB710C1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65727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2 吃喝：两家午餐二选一">
            <a:extLst xmlns:a="http://schemas.openxmlformats.org/drawingml/2006/main">
              <a:ext uri="{FF2B5EF4-FFF2-40B4-BE49-F238E27FC236}">
                <a16:creationId xmlns:a16="http://schemas.microsoft.com/office/drawing/2014/main" id="{87EEC163-A4A9-4A58-A6E0-E96D8E8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吃喝：两家午餐二选一</a:t>
            </a:r>
          </a:p>
        </p:txBody>
      </p:sp>
      <p:sp>
        <p:nvSpPr>
          <p:cNvPr id="2" name="所有金额为两人预留预算，具体菜单和营业以当天为准">
            <a:extLst xmlns:a="http://schemas.openxmlformats.org/drawingml/2006/main">
              <a:ext uri="{FF2B5EF4-FFF2-40B4-BE49-F238E27FC236}">
                <a16:creationId xmlns:a16="http://schemas.microsoft.com/office/drawing/2014/main" id="{B98F7A4A-C4AD-4A23-B192-C7DFD3B6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所有金额为两人预留预算，具体菜单和营业以当天为准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EF70C3D8-2D85-4ECA-8104-CBCD792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405E8-BA12-47D8-988E-C9582EFFF1A5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5400675"/>
                <a:gridCol w="219075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店铺检索词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点单建议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两人预留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南翔馒头店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鲜肉小笼，一笼分享后再加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80–160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大壶春 豫园店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生煎配汤，替换小笼午餐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50–90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沈大成 南京东路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条头糕／双酿团，少量现买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20–50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裕莲茶楼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琥珀奶茶，蛋挞共享可选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40–90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南翔地图">
            <a:extLst xmlns:a="http://schemas.openxmlformats.org/drawingml/2006/main">
              <a:ext uri="{FF2B5EF4-FFF2-40B4-BE49-F238E27FC236}">
                <a16:creationId xmlns:a16="http://schemas.microsoft.com/office/drawing/2014/main" id="{D338E069-1AC0-4CE9-A820-0BFCCA16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500d88382e4d53"/>
              </a:rPr>
              <a:t>南翔地图</a:t>
            </a:r>
          </a:p>
        </p:txBody>
      </p:sp>
      <p:sp>
        <p:nvSpPr>
          <p:cNvPr id="6" name="大壶春地图">
            <a:extLst xmlns:a="http://schemas.openxmlformats.org/drawingml/2006/main">
              <a:ext uri="{FF2B5EF4-FFF2-40B4-BE49-F238E27FC236}">
                <a16:creationId xmlns:a16="http://schemas.microsoft.com/office/drawing/2014/main" id="{AA491A4F-3782-43B8-8CD4-92237BF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438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3bb456d9aa439e"/>
              </a:rPr>
              <a:t>大壶春地图</a:t>
            </a:r>
          </a:p>
        </p:txBody>
      </p:sp>
      <p:sp>
        <p:nvSpPr>
          <p:cNvPr id="7" name="裕莲茶楼地图">
            <a:extLst xmlns:a="http://schemas.openxmlformats.org/drawingml/2006/main">
              <a:ext uri="{FF2B5EF4-FFF2-40B4-BE49-F238E27FC236}">
                <a16:creationId xmlns:a16="http://schemas.microsoft.com/office/drawing/2014/main" id="{F66DAD5E-36FD-458C-BBAC-C51FF73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5abc7cbe704f96"/>
              </a:rPr>
              <a:t>裕莲茶楼地图</a:t>
            </a:r>
          </a:p>
        </p:txBody>
      </p:sp>
      <p:sp>
        <p:nvSpPr>
          <p:cNvPr id="8" name="排队超过约 30 分钟就换店。裕莲是单篇候选，饮品与点心不要求全">
            <a:extLst xmlns:a="http://schemas.openxmlformats.org/drawingml/2006/main">
              <a:ext uri="{FF2B5EF4-FFF2-40B4-BE49-F238E27FC236}">
                <a16:creationId xmlns:a16="http://schemas.microsoft.com/office/drawing/2014/main" id="{B4020DC3-605C-4B8C-AE18-0E0F7E4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排队超过约 30 分钟就换店。裕莲是单篇候选，饮品与点心不要求全部尝完。</a:t>
            </a:r>
          </a:p>
        </p:txBody>
      </p:sp>
    </p:spTree>
    <p:extLst>
      <p:ext uri="{BB962C8B-B14F-4D97-AF65-F5344CB8AC3E}">
        <p14:creationId xmlns:p14="http://schemas.microsoft.com/office/powerpoint/2010/main" val="54933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DD9D7-7E88-4870-96FC-C5DFD03438F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00017-BB38-4292-9C21-0C021113B6E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7D7E0-2DAE-423B-822A-3EFEA3A1F3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3 武康路与安福路慢逛">
            <a:extLst xmlns:a="http://schemas.openxmlformats.org/drawingml/2006/main">
              <a:ext uri="{FF2B5EF4-FFF2-40B4-BE49-F238E27FC236}">
                <a16:creationId xmlns:a16="http://schemas.microsoft.com/office/drawing/2014/main" id="{E9B5EFFF-6A11-4D54-9ECC-052369D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D3 武康路与安福路慢逛</a:t>
            </a:r>
          </a:p>
        </p:txBody>
      </p:sp>
      <p:sp>
        <p:nvSpPr>
          <p:cNvPr id="2" name="从武康路南端进入，向北接安福路，再向东逛">
            <a:extLst xmlns:a="http://schemas.openxmlformats.org/drawingml/2006/main">
              <a:ext uri="{FF2B5EF4-FFF2-40B4-BE49-F238E27FC236}">
                <a16:creationId xmlns:a16="http://schemas.microsoft.com/office/drawing/2014/main" id="{2C750C0E-27BC-4E9D-A368-8601F5F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从武康路南端进入，向北接安福路，再向东逛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BF656DBF-EA61-4495-83AA-06D0871A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E83F5D2C-3D8D-4CD2-8795-95A30235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交通大学站">
            <a:extLst xmlns:a="http://schemas.openxmlformats.org/drawingml/2006/main">
              <a:ext uri="{FF2B5EF4-FFF2-40B4-BE49-F238E27FC236}">
                <a16:creationId xmlns:a16="http://schemas.microsoft.com/office/drawing/2014/main" id="{F17FAD6E-3650-42D8-88AB-D0C1A201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交通大学站</a:t>
            </a:r>
          </a:p>
        </p:txBody>
      </p:sp>
      <p:sp>
        <p:nvSpPr>
          <p:cNvPr id="6" name="10:30 左右到达&#10;10 号线&#10;步行 10–20 分钟">
            <a:extLst xmlns:a="http://schemas.openxmlformats.org/drawingml/2006/main">
              <a:ext uri="{FF2B5EF4-FFF2-40B4-BE49-F238E27FC236}">
                <a16:creationId xmlns:a16="http://schemas.microsoft.com/office/drawing/2014/main" id="{EB9987FE-4948-4C14-9DF5-6A3CD530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10:30 左右到达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步行 10–20 分钟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4D61FF9-2F09-4E13-AE76-BCF3CAF2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武康大楼">
            <a:extLst xmlns:a="http://schemas.openxmlformats.org/drawingml/2006/main">
              <a:ext uri="{FF2B5EF4-FFF2-40B4-BE49-F238E27FC236}">
                <a16:creationId xmlns:a16="http://schemas.microsoft.com/office/drawing/2014/main" id="{F9603B51-523F-4776-A744-2D837BC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武康大楼</a:t>
            </a:r>
          </a:p>
        </p:txBody>
      </p:sp>
      <p:sp>
        <p:nvSpPr>
          <p:cNvPr id="9" name="街拍后沿武康路北行&#10;梧桐、洋房与街景&#10;午餐在邻近街区">
            <a:extLst xmlns:a="http://schemas.openxmlformats.org/drawingml/2006/main">
              <a:ext uri="{FF2B5EF4-FFF2-40B4-BE49-F238E27FC236}">
                <a16:creationId xmlns:a16="http://schemas.microsoft.com/office/drawing/2014/main" id="{65A71F33-759E-4B34-B384-2B6410D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街拍后沿武康路北行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梧桐、洋房与街景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午餐在邻近街区</a:t>
            </a:r>
          </a:p>
        </p:txBody>
      </p:sp>
      <p:sp>
        <p:nvSpPr>
          <p:cNvPr id="10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0C3E0735-0AF8-459E-98EA-34F0AA8C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89eaca08ab478e"/>
              </a:rPr>
              <a:t>地图搜索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C917A833-8AD0-4299-95FE-21E3BC7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安福路东行">
            <a:extLst xmlns:a="http://schemas.openxmlformats.org/drawingml/2006/main">
              <a:ext uri="{FF2B5EF4-FFF2-40B4-BE49-F238E27FC236}">
                <a16:creationId xmlns:a16="http://schemas.microsoft.com/office/drawing/2014/main" id="{5A2699A7-22BF-4D27-A83F-31E1E56A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安福路东行</a:t>
            </a:r>
          </a:p>
        </p:txBody>
      </p:sp>
      <p:sp>
        <p:nvSpPr>
          <p:cNvPr id="13" name="13:15–16:30&#10;三家重点选两家&#10;店址与预约见下一页">
            <a:extLst xmlns:a="http://schemas.openxmlformats.org/drawingml/2006/main">
              <a:ext uri="{FF2B5EF4-FFF2-40B4-BE49-F238E27FC236}">
                <a16:creationId xmlns:a16="http://schemas.microsoft.com/office/drawing/2014/main" id="{9D53E7BB-327C-4066-A1A8-1FA55B8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13:15–16:30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三家重点选两家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店址与预约见下一页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1428C130-7162-40E4-90F7-0B713F80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07d0caaf0b456b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E5911385-8BF7-4063-8347-1DAA8C1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乌中休息">
            <a:extLst xmlns:a="http://schemas.openxmlformats.org/drawingml/2006/main">
              <a:ext uri="{FF2B5EF4-FFF2-40B4-BE49-F238E27FC236}">
                <a16:creationId xmlns:a16="http://schemas.microsoft.com/office/drawing/2014/main" id="{478ADAB9-D42F-464A-8AD6-B1686411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乌中休息</a:t>
            </a:r>
          </a:p>
        </p:txBody>
      </p:sp>
      <p:sp>
        <p:nvSpPr>
          <p:cNvPr id="17" name="坐 45–60 分钟&#10;比较常熟路／图书馆站&#10;疲劳就打车回 A">
            <a:extLst xmlns:a="http://schemas.openxmlformats.org/drawingml/2006/main">
              <a:ext uri="{FF2B5EF4-FFF2-40B4-BE49-F238E27FC236}">
                <a16:creationId xmlns:a16="http://schemas.microsoft.com/office/drawing/2014/main" id="{B3C8C739-825E-4F76-95B0-F6B5903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坐 45–60 分钟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比较常熟路／图书馆站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疲劳就打车回 A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6EB9F132-0B03-4D86-A985-B3E09A0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e0eb03078d492b"/>
              </a:rPr>
              <a:t>地图搜索</a:t>
            </a:r>
          </a:p>
        </p:txBody>
      </p:sp>
      <p:sp>
        <p:nvSpPr>
          <p:cNvPr id="20" name="步行">
            <a:extLst xmlns:a="http://schemas.openxmlformats.org/drawingml/2006/main">
              <a:ext uri="{FF2B5EF4-FFF2-40B4-BE49-F238E27FC236}">
                <a16:creationId xmlns:a16="http://schemas.microsoft.com/office/drawing/2014/main" id="{C4BE74C3-54ED-4751-A132-A042697D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步行">
            <a:extLst xmlns:a="http://schemas.openxmlformats.org/drawingml/2006/main">
              <a:ext uri="{FF2B5EF4-FFF2-40B4-BE49-F238E27FC236}">
                <a16:creationId xmlns:a16="http://schemas.microsoft.com/office/drawing/2014/main" id="{B4535FA7-A2A0-4B0D-945D-C74438E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342BD37C-1F53-4E2C-8D2E-0D1E253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5698E09C-1B34-4026-B330-D91C5354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497443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安福路买手店：重点选两家">
            <a:extLst xmlns:a="http://schemas.openxmlformats.org/drawingml/2006/main">
              <a:ext uri="{FF2B5EF4-FFF2-40B4-BE49-F238E27FC236}">
                <a16:creationId xmlns:a16="http://schemas.microsoft.com/office/drawing/2014/main" id="{E9D4BACC-792D-4FE2-8A25-8FFA951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安福路买手店：重点选两家</a:t>
            </a:r>
          </a:p>
        </p:txBody>
      </p:sp>
      <p:sp>
        <p:nvSpPr>
          <p:cNvPr id="2" name="按安福路向东慢逛，给购物与试穿留 2–3 小时">
            <a:extLst xmlns:a="http://schemas.openxmlformats.org/drawingml/2006/main">
              <a:ext uri="{FF2B5EF4-FFF2-40B4-BE49-F238E27FC236}">
                <a16:creationId xmlns:a16="http://schemas.microsoft.com/office/drawing/2014/main" id="{839180E8-02B3-4388-B6CD-18D6DEB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按安福路向东慢逛，给购物与试穿留 2–3 小时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39FF7605-7B29-402B-A465-3C86F2AB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193C2-7ADE-48DA-8962-27EA29A1B301}"/>
              </a:ext>
            </a:extLst>
          </p:cNvPr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171950"/>
                <a:gridCol w="3562350"/>
              </a:tblGrid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门店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笔记地址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逛什么／确认事项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 the PARK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322 号，6 号楼 1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服装与生活方式，核入口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RONIN MADE Lounge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275 号 5 弄 1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银饰配饰，提前预约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CSYSeLECTED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234 号 2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成衣配饰，核当天营业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in the PARK 地图">
            <a:extLst xmlns:a="http://schemas.openxmlformats.org/drawingml/2006/main">
              <a:ext uri="{FF2B5EF4-FFF2-40B4-BE49-F238E27FC236}">
                <a16:creationId xmlns:a16="http://schemas.microsoft.com/office/drawing/2014/main" id="{B36B51B8-668C-4A4E-A9D6-FF8CC58D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20ef7432ad40d3"/>
              </a:rPr>
              <a:t>in the PARK 地图</a:t>
            </a:r>
          </a:p>
        </p:txBody>
      </p:sp>
      <p:sp>
        <p:nvSpPr>
          <p:cNvPr id="6" name="RML 地图">
            <a:extLst xmlns:a="http://schemas.openxmlformats.org/drawingml/2006/main">
              <a:ext uri="{FF2B5EF4-FFF2-40B4-BE49-F238E27FC236}">
                <a16:creationId xmlns:a16="http://schemas.microsoft.com/office/drawing/2014/main" id="{E5C80A41-836A-4FBB-8856-80FB3FC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8feb6b83b34d52"/>
              </a:rPr>
              <a:t>RML 地图</a:t>
            </a:r>
          </a:p>
        </p:txBody>
      </p:sp>
      <p:sp>
        <p:nvSpPr>
          <p:cNvPr id="7" name="CSY 地图">
            <a:extLst xmlns:a="http://schemas.openxmlformats.org/drawingml/2006/main">
              <a:ext uri="{FF2B5EF4-FFF2-40B4-BE49-F238E27FC236}">
                <a16:creationId xmlns:a16="http://schemas.microsoft.com/office/drawing/2014/main" id="{E79B8887-5277-4B0C-83B1-87CA0D5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42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62738b248947a5"/>
              </a:rPr>
              <a:t>CSY 地图</a:t>
            </a:r>
          </a:p>
        </p:txBody>
      </p:sp>
      <p:sp>
        <p:nvSpPr>
          <p:cNvPr id="8" name="“6 号楼 1 楼”请准确保存。地址已读，实时在营待核。RML ">
            <a:extLst xmlns:a="http://schemas.openxmlformats.org/drawingml/2006/main">
              <a:ext uri="{FF2B5EF4-FFF2-40B4-BE49-F238E27FC236}">
                <a16:creationId xmlns:a16="http://schemas.microsoft.com/office/drawing/2014/main" id="{E4C30C6C-F414-4F17-B027-08CD5FEB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“6 号楼 1 楼”请准确保存。地址已读，实时在营待核。RML 预约造成折返就略过。</a:t>
            </a:r>
          </a:p>
        </p:txBody>
      </p:sp>
    </p:spTree>
    <p:extLst>
      <p:ext uri="{BB962C8B-B14F-4D97-AF65-F5344CB8AC3E}">
        <p14:creationId xmlns:p14="http://schemas.microsoft.com/office/powerpoint/2010/main" val="166198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55EB3-1AC8-46D7-A111-60AE81B59FF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67962-08C8-460F-AFB3-33F9149E9DF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E5B6B-A87D-4388-91C2-CF606C1268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4 陆家嘴：一个商场加滨江">
            <a:extLst xmlns:a="http://schemas.openxmlformats.org/drawingml/2006/main">
              <a:ext uri="{FF2B5EF4-FFF2-40B4-BE49-F238E27FC236}">
                <a16:creationId xmlns:a16="http://schemas.microsoft.com/office/drawing/2014/main" id="{9A7C163C-FEDF-4446-9A0C-913FE470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D4 陆家嘴：一个商场加滨江</a:t>
            </a:r>
          </a:p>
        </p:txBody>
      </p:sp>
      <p:sp>
        <p:nvSpPr>
          <p:cNvPr id="2" name="默认地面慢游，全天步行规划约 2–4 公里">
            <a:extLst xmlns:a="http://schemas.openxmlformats.org/drawingml/2006/main">
              <a:ext uri="{FF2B5EF4-FFF2-40B4-BE49-F238E27FC236}">
                <a16:creationId xmlns:a16="http://schemas.microsoft.com/office/drawing/2014/main" id="{F09DFC5C-DEC1-4C2D-B0EF-540FA5A5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默认地面慢游，全天步行规划约 2–4 公里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F7C2DA0E-E1AD-4175-87A7-2C98A0D1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4A1207E9-6F19-42AB-96F4-5FCF9B3D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陆家嘴站">
            <a:extLst xmlns:a="http://schemas.openxmlformats.org/drawingml/2006/main">
              <a:ext uri="{FF2B5EF4-FFF2-40B4-BE49-F238E27FC236}">
                <a16:creationId xmlns:a16="http://schemas.microsoft.com/office/drawing/2014/main" id="{6A78E81B-838D-41D9-8953-1101565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陆家嘴站</a:t>
            </a:r>
          </a:p>
        </p:txBody>
      </p:sp>
      <p:sp>
        <p:nvSpPr>
          <p:cNvPr id="6" name="10:30 前后到达&#10;大世界／豫园乘 14&#10;老西门经豫园换乘">
            <a:extLst xmlns:a="http://schemas.openxmlformats.org/drawingml/2006/main">
              <a:ext uri="{FF2B5EF4-FFF2-40B4-BE49-F238E27FC236}">
                <a16:creationId xmlns:a16="http://schemas.microsoft.com/office/drawing/2014/main" id="{4EB1F4ED-966B-4C0A-A087-4784394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10:30 前后到达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大世界／豫园乘 14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老西门经豫园换乘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8D7E404-7280-4A2A-8E48-F7237F82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商场择一">
            <a:extLst xmlns:a="http://schemas.openxmlformats.org/drawingml/2006/main">
              <a:ext uri="{FF2B5EF4-FFF2-40B4-BE49-F238E27FC236}">
                <a16:creationId xmlns:a16="http://schemas.microsoft.com/office/drawing/2014/main" id="{86CAD956-2859-45CC-97BD-BE6909B6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商场择一</a:t>
            </a:r>
          </a:p>
        </p:txBody>
      </p:sp>
      <p:sp>
        <p:nvSpPr>
          <p:cNvPr id="9" name="国金中心或正大广场&#10;午餐后坐下休息&#10;不必两个都逛">
            <a:extLst xmlns:a="http://schemas.openxmlformats.org/drawingml/2006/main">
              <a:ext uri="{FF2B5EF4-FFF2-40B4-BE49-F238E27FC236}">
                <a16:creationId xmlns:a16="http://schemas.microsoft.com/office/drawing/2014/main" id="{CA47A89A-84F6-4D63-B9F6-1447180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国金中心或正大广场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午餐后坐下休息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不必两个都逛</a:t>
            </a:r>
          </a:p>
        </p:txBody>
      </p:sp>
      <p:sp>
        <p:nvSpPr>
          <p:cNvPr id="10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88C0F858-C521-485E-9012-3AD023FD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e04d4a411645fc"/>
              </a:rPr>
              <a:t>地图搜索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D3BA58F4-5275-41D6-908D-73D39F8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三件套外观">
            <a:extLst xmlns:a="http://schemas.openxmlformats.org/drawingml/2006/main">
              <a:ext uri="{FF2B5EF4-FFF2-40B4-BE49-F238E27FC236}">
                <a16:creationId xmlns:a16="http://schemas.microsoft.com/office/drawing/2014/main" id="{2D642E9A-AE55-48B7-9769-7044C0FC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三件套外观</a:t>
            </a:r>
          </a:p>
        </p:txBody>
      </p:sp>
      <p:sp>
        <p:nvSpPr>
          <p:cNvPr id="13" name="上海中心、金茂&#10;环球金融中心&#10;沿人行与过街设施">
            <a:extLst xmlns:a="http://schemas.openxmlformats.org/drawingml/2006/main">
              <a:ext uri="{FF2B5EF4-FFF2-40B4-BE49-F238E27FC236}">
                <a16:creationId xmlns:a16="http://schemas.microsoft.com/office/drawing/2014/main" id="{45E9CC81-78F4-45ED-96E9-F8804A0E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上海中心、金茂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环球金融中心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沿人行与过街设施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4F5078AB-9751-4865-B6A9-834E453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28854e5acd486b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9B5D57A7-2424-4BE0-845B-64CA8CB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浦东滨江">
            <a:extLst xmlns:a="http://schemas.openxmlformats.org/drawingml/2006/main">
              <a:ext uri="{FF2B5EF4-FFF2-40B4-BE49-F238E27FC236}">
                <a16:creationId xmlns:a16="http://schemas.microsoft.com/office/drawing/2014/main" id="{DA5AC15D-5D45-4280-B349-16E361CB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浦东滨江</a:t>
            </a:r>
          </a:p>
        </p:txBody>
      </p:sp>
      <p:sp>
        <p:nvSpPr>
          <p:cNvPr id="17" name="15:30–18:00&#10;看浦西外滩&#10;地铁回 A">
            <a:extLst xmlns:a="http://schemas.openxmlformats.org/drawingml/2006/main">
              <a:ext uri="{FF2B5EF4-FFF2-40B4-BE49-F238E27FC236}">
                <a16:creationId xmlns:a16="http://schemas.microsoft.com/office/drawing/2014/main" id="{2C96138C-F016-4E38-A18B-37A5C151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15:30–18:00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看浦西外滩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地铁回 A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71FE8D4D-B259-4C5E-95A1-C9FA1ECA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8a240959bf4d79"/>
              </a:rPr>
              <a:t>地图搜索</a:t>
            </a:r>
          </a:p>
        </p:txBody>
      </p:sp>
      <p:sp>
        <p:nvSpPr>
          <p:cNvPr id="20" name="步行">
            <a:extLst xmlns:a="http://schemas.openxmlformats.org/drawingml/2006/main">
              <a:ext uri="{FF2B5EF4-FFF2-40B4-BE49-F238E27FC236}">
                <a16:creationId xmlns:a16="http://schemas.microsoft.com/office/drawing/2014/main" id="{400B411F-3537-46B7-A727-2FEC407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步行">
            <a:extLst xmlns:a="http://schemas.openxmlformats.org/drawingml/2006/main">
              <a:ext uri="{FF2B5EF4-FFF2-40B4-BE49-F238E27FC236}">
                <a16:creationId xmlns:a16="http://schemas.microsoft.com/office/drawing/2014/main" id="{3169DF0F-7EC3-4F14-B4CB-E68270B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51E1B9D1-C6AC-4784-A27A-CD55DB3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7B4B987F-A9DF-4E0A-B750-6C092FA6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136645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5 短逛后二次入住">
            <a:extLst xmlns:a="http://schemas.openxmlformats.org/drawingml/2006/main">
              <a:ext uri="{FF2B5EF4-FFF2-40B4-BE49-F238E27FC236}">
                <a16:creationId xmlns:a16="http://schemas.microsoft.com/office/drawing/2014/main" id="{9A8282E6-4768-46E0-8045-C13ECB18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D5 短逛后二次入住</a:t>
            </a:r>
          </a:p>
        </p:txBody>
      </p:sp>
      <p:sp>
        <p:nvSpPr>
          <p:cNvPr id="2" name="上午退房寄存，14 点左右回 A 取行李，下午转场到 B">
            <a:extLst xmlns:a="http://schemas.openxmlformats.org/drawingml/2006/main">
              <a:ext uri="{FF2B5EF4-FFF2-40B4-BE49-F238E27FC236}">
                <a16:creationId xmlns:a16="http://schemas.microsoft.com/office/drawing/2014/main" id="{86A1AF1E-26A9-495B-970F-E8744D2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上午退房寄存，14 点左右回 A 取行李，下午转场到 B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5E33EAFE-1426-42A3-8361-EF762A96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淮海东侧／新天地主线">
            <a:extLst xmlns:a="http://schemas.openxmlformats.org/drawingml/2006/main">
              <a:ext uri="{FF2B5EF4-FFF2-40B4-BE49-F238E27FC236}">
                <a16:creationId xmlns:a16="http://schemas.microsoft.com/office/drawing/2014/main" id="{A114DC2C-5332-45C0-B747-A386B9C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淮海东侧／新天地主线</a:t>
            </a:r>
          </a:p>
        </p:txBody>
      </p:sp>
      <p:sp>
        <p:nvSpPr>
          <p:cNvPr id="5" name="一大会址·黄陂南路附近&#10;一个商场加新天地北里&#10;ALTER：马当路">
            <a:extLst xmlns:a="http://schemas.openxmlformats.org/drawingml/2006/main">
              <a:ext uri="{FF2B5EF4-FFF2-40B4-BE49-F238E27FC236}">
                <a16:creationId xmlns:a16="http://schemas.microsoft.com/office/drawing/2014/main" id="{30CAA796-2932-44C9-8A56-BE12620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一大会址·黄陂南路附近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一个商场加新天地北里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ALTER：马当路 245 号，新天地 L116</a:t>
            </a:r>
          </a:p>
        </p:txBody>
      </p:sp>
      <p:sp>
        <p:nvSpPr>
          <p:cNvPr id="6" name="富民／长乐／巨鹿替换线">
            <a:extLst xmlns:a="http://schemas.openxmlformats.org/drawingml/2006/main">
              <a:ext uri="{FF2B5EF4-FFF2-40B4-BE49-F238E27FC236}">
                <a16:creationId xmlns:a16="http://schemas.microsoft.com/office/drawing/2014/main" id="{1A1BB302-0CEF-42D5-81C1-C29FEAC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富民／长乐／巨鹿替换线</a:t>
            </a:r>
          </a:p>
        </p:txBody>
      </p:sp>
      <p:sp>
        <p:nvSpPr>
          <p:cNvPr id="7" name="常熟路附近，只走一小段&#10;慢逛 1.5–2 小时后回 A&#10;LABE">
            <a:extLst xmlns:a="http://schemas.openxmlformats.org/drawingml/2006/main">
              <a:ext uri="{FF2B5EF4-FFF2-40B4-BE49-F238E27FC236}">
                <a16:creationId xmlns:a16="http://schemas.microsoft.com/office/drawing/2014/main" id="{7128ADE3-4230-4E74-B861-2CBF5703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常熟路附近，只走一小段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慢逛 1.5–2 小时后回 A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LABELHOOD：富民路 184 号</a:t>
            </a:r>
          </a:p>
        </p:txBody>
      </p:sp>
      <p:sp>
        <p:nvSpPr>
          <p:cNvPr id="8" name="ALTER 地图">
            <a:extLst xmlns:a="http://schemas.openxmlformats.org/drawingml/2006/main">
              <a:ext uri="{FF2B5EF4-FFF2-40B4-BE49-F238E27FC236}">
                <a16:creationId xmlns:a16="http://schemas.microsoft.com/office/drawing/2014/main" id="{0C500CE4-96F7-47E6-95BA-3D5CD947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2bfeb0b4dc4df9"/>
              </a:rPr>
              <a:t>ALTER 地图</a:t>
            </a:r>
          </a:p>
        </p:txBody>
      </p:sp>
      <p:sp>
        <p:nvSpPr>
          <p:cNvPr id="9" name="蕾虎地图">
            <a:extLst xmlns:a="http://schemas.openxmlformats.org/drawingml/2006/main">
              <a:ext uri="{FF2B5EF4-FFF2-40B4-BE49-F238E27FC236}">
                <a16:creationId xmlns:a16="http://schemas.microsoft.com/office/drawing/2014/main" id="{80C31D9A-B6B0-4AC9-8FD0-8371CBC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24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c5394445e94946"/>
              </a:rPr>
              <a:t>蕾虎地图</a:t>
            </a:r>
          </a:p>
        </p:txBody>
      </p:sp>
      <p:sp>
        <p:nvSpPr>
          <p:cNvPr id="10" name="两条线二选一。味香斋／光明邨只在淮海西侧替换线顺路安排。门店地址">
            <a:extLst xmlns:a="http://schemas.openxmlformats.org/drawingml/2006/main">
              <a:ext uri="{FF2B5EF4-FFF2-40B4-BE49-F238E27FC236}">
                <a16:creationId xmlns:a16="http://schemas.microsoft.com/office/drawing/2014/main" id="{1C3507D8-B63A-4551-B556-29697BCD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两条线二选一。味香斋／光明邨只在淮海西侧替换线顺路安排。门店地址仍需核在营。</a:t>
            </a:r>
          </a:p>
        </p:txBody>
      </p:sp>
    </p:spTree>
    <p:extLst>
      <p:ext uri="{BB962C8B-B14F-4D97-AF65-F5344CB8AC3E}">
        <p14:creationId xmlns:p14="http://schemas.microsoft.com/office/powerpoint/2010/main" val="701302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203FC-5947-4BAB-B1AA-0B528367D39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6CFD4-6203-428A-B00E-34C500276D1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A0CC5-4AC5-4397-A3DD-A516368933A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唯一转场：A 取行李后去 B">
            <a:extLst xmlns:a="http://schemas.openxmlformats.org/drawingml/2006/main">
              <a:ext uri="{FF2B5EF4-FFF2-40B4-BE49-F238E27FC236}">
                <a16:creationId xmlns:a16="http://schemas.microsoft.com/office/drawing/2014/main" id="{C7109622-887C-48CF-A782-E30A575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唯一转场：A 取行李后去 B</a:t>
            </a:r>
          </a:p>
        </p:txBody>
      </p:sp>
      <p:sp>
        <p:nvSpPr>
          <p:cNvPr id="2" name="两人带箱子，先比较网约车。门到门预留 60–120 分钟">
            <a:extLst xmlns:a="http://schemas.openxmlformats.org/drawingml/2006/main">
              <a:ext uri="{FF2B5EF4-FFF2-40B4-BE49-F238E27FC236}">
                <a16:creationId xmlns:a16="http://schemas.microsoft.com/office/drawing/2014/main" id="{CE33AD26-B5F6-413A-8179-3E036CE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两人带箱子，先比较网约车。门到门预留 60–120 分钟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CB1D1CA7-5BC5-44F1-8D62-706304AC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AB6B68D-BACC-412E-ABFB-97539FE1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 取行李">
            <a:extLst xmlns:a="http://schemas.openxmlformats.org/drawingml/2006/main">
              <a:ext uri="{FF2B5EF4-FFF2-40B4-BE49-F238E27FC236}">
                <a16:creationId xmlns:a16="http://schemas.microsoft.com/office/drawing/2014/main" id="{6949B183-2876-47EB-9ED7-1574DCEB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取行李</a:t>
            </a:r>
          </a:p>
        </p:txBody>
      </p:sp>
      <p:sp>
        <p:nvSpPr>
          <p:cNvPr id="6" name="先确认寄存和退房&#10;向 B 核入住时间&#10;避免拖箱逛街">
            <a:extLst xmlns:a="http://schemas.openxmlformats.org/drawingml/2006/main">
              <a:ext uri="{FF2B5EF4-FFF2-40B4-BE49-F238E27FC236}">
                <a16:creationId xmlns:a16="http://schemas.microsoft.com/office/drawing/2014/main" id="{24A503FC-4F2E-4335-B20D-917AE32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先确认寄存和退房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向 B 核入住时间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避免拖箱逛街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7A65D70-A80A-4CA8-9702-0A361FA3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东方体育中心">
            <a:extLst xmlns:a="http://schemas.openxmlformats.org/drawingml/2006/main">
              <a:ext uri="{FF2B5EF4-FFF2-40B4-BE49-F238E27FC236}">
                <a16:creationId xmlns:a16="http://schemas.microsoft.com/office/drawing/2014/main" id="{E9799314-512E-4617-9281-DDF0849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东方体育中心</a:t>
            </a:r>
          </a:p>
        </p:txBody>
      </p:sp>
      <p:sp>
        <p:nvSpPr>
          <p:cNvPr id="9" name="近大世界／老西门&#10;陆家浜路乘 8 号线&#10;在此换 11 号线">
            <a:extLst xmlns:a="http://schemas.openxmlformats.org/drawingml/2006/main">
              <a:ext uri="{FF2B5EF4-FFF2-40B4-BE49-F238E27FC236}">
                <a16:creationId xmlns:a16="http://schemas.microsoft.com/office/drawing/2014/main" id="{677EEC33-7145-40E0-BFD9-5462002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近大世界／老西门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陆家浜路乘 8 号线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在此换 11 号线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B36D668-D2B3-4006-AF4F-27D67704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B 对应车站">
            <a:extLst xmlns:a="http://schemas.openxmlformats.org/drawingml/2006/main">
              <a:ext uri="{FF2B5EF4-FFF2-40B4-BE49-F238E27FC236}">
                <a16:creationId xmlns:a16="http://schemas.microsoft.com/office/drawing/2014/main" id="{35EA840F-CFE2-4F2E-B54A-73BE019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B 对应车站</a:t>
            </a:r>
          </a:p>
        </p:txBody>
      </p:sp>
      <p:sp>
        <p:nvSpPr>
          <p:cNvPr id="12" name="秀沿路／康新公路&#10;御桥作备选&#10;最后一段按酒店导航">
            <a:extLst xmlns:a="http://schemas.openxmlformats.org/drawingml/2006/main">
              <a:ext uri="{FF2B5EF4-FFF2-40B4-BE49-F238E27FC236}">
                <a16:creationId xmlns:a16="http://schemas.microsoft.com/office/drawing/2014/main" id="{3D653617-943A-4010-B0F6-E92424C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秀沿路／康新公路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御桥作备选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最后一段按酒店导航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D21B9F2B-1F6E-43DD-BFEF-CDFFA25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入住休息">
            <a:extLst xmlns:a="http://schemas.openxmlformats.org/drawingml/2006/main">
              <a:ext uri="{FF2B5EF4-FFF2-40B4-BE49-F238E27FC236}">
                <a16:creationId xmlns:a16="http://schemas.microsoft.com/office/drawing/2014/main" id="{B9816391-F61C-40E5-8654-4B089A96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入住休息</a:t>
            </a:r>
          </a:p>
        </p:txBody>
      </p:sp>
      <p:sp>
        <p:nvSpPr>
          <p:cNvPr id="15" name="附近吃饭、整理小包&#10;确认次日交通&#10;晚间尽早休息">
            <a:extLst xmlns:a="http://schemas.openxmlformats.org/drawingml/2006/main">
              <a:ext uri="{FF2B5EF4-FFF2-40B4-BE49-F238E27FC236}">
                <a16:creationId xmlns:a16="http://schemas.microsoft.com/office/drawing/2014/main" id="{68F92E79-925C-4915-A5A3-1E520D3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附近吃饭、整理小包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确认次日交通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晚间尽早休息</a:t>
            </a:r>
          </a:p>
        </p:txBody>
      </p:sp>
      <p:sp>
        <p:nvSpPr>
          <p:cNvPr id="17" name="8 号线">
            <a:extLst xmlns:a="http://schemas.openxmlformats.org/drawingml/2006/main">
              <a:ext uri="{FF2B5EF4-FFF2-40B4-BE49-F238E27FC236}">
                <a16:creationId xmlns:a16="http://schemas.microsoft.com/office/drawing/2014/main" id="{61158E1A-E39F-439D-8A06-0042BF4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 号线</a:t>
            </a:r>
          </a:p>
        </p:txBody>
      </p:sp>
      <p:sp>
        <p:nvSpPr>
          <p:cNvPr id="19" name="11 号线">
            <a:extLst xmlns:a="http://schemas.openxmlformats.org/drawingml/2006/main">
              <a:ext uri="{FF2B5EF4-FFF2-40B4-BE49-F238E27FC236}">
                <a16:creationId xmlns:a16="http://schemas.microsoft.com/office/drawing/2014/main" id="{D24C0488-2495-45AF-8E08-46B46252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11 号线</a:t>
            </a:r>
          </a:p>
        </p:txBody>
      </p:sp>
      <p:sp>
        <p:nvSpPr>
          <p:cNvPr id="21" name="步行／车">
            <a:extLst xmlns:a="http://schemas.openxmlformats.org/drawingml/2006/main">
              <a:ext uri="{FF2B5EF4-FFF2-40B4-BE49-F238E27FC236}">
                <a16:creationId xmlns:a16="http://schemas.microsoft.com/office/drawing/2014/main" id="{9254F395-5997-4D7C-BF45-8B7B05CC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步行／车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6E5CED25-FF4F-4B93-96C0-0D5F15B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2052486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迪士尼票务与日期选择">
            <a:extLst xmlns:a="http://schemas.openxmlformats.org/drawingml/2006/main">
              <a:ext uri="{FF2B5EF4-FFF2-40B4-BE49-F238E27FC236}">
                <a16:creationId xmlns:a16="http://schemas.microsoft.com/office/drawing/2014/main" id="{368282E9-07E8-4953-A83A-B2F7D82A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迪士尼票务与日期选择</a:t>
            </a:r>
          </a:p>
        </p:txBody>
      </p:sp>
      <p:sp>
        <p:nvSpPr>
          <p:cNvPr id="2" name="示例 10/28 周三入园，日期和在售产品以官方实际条件为准">
            <a:extLst xmlns:a="http://schemas.openxmlformats.org/drawingml/2006/main">
              <a:ext uri="{FF2B5EF4-FFF2-40B4-BE49-F238E27FC236}">
                <a16:creationId xmlns:a16="http://schemas.microsoft.com/office/drawing/2014/main" id="{299E790D-EF2E-4AC3-A479-F1679FA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示例 10/28 周三入园，日期和在售产品以官方实际条件为准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AB30E68F-77E2-43E1-AF11-BFC79B71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1 天：7 天版&#10;2 天：8 天版">
            <a:extLst xmlns:a="http://schemas.openxmlformats.org/drawingml/2006/main">
              <a:ext uri="{FF2B5EF4-FFF2-40B4-BE49-F238E27FC236}">
                <a16:creationId xmlns:a16="http://schemas.microsoft.com/office/drawing/2014/main" id="{636EC299-A56A-4F2E-B836-B1332A4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905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 天：7 天版</a:t>
            </a:r>
          </a:p>
          <a:p xmlns:a="http://schemas.openxmlformats.org/drawingml/2006/main">
            <a: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2 天：8 天版</a:t>
            </a:r>
          </a:p>
        </p:txBody>
      </p:sp>
      <p:sp>
        <p:nvSpPr>
          <p:cNvPr id="5" name="提前核对入园证件、有效期、退改。&#10;T₁ 为单人实际一日票费。&#10;T">
            <a:extLst xmlns:a="http://schemas.openxmlformats.org/drawingml/2006/main">
              <a:ext uri="{FF2B5EF4-FFF2-40B4-BE49-F238E27FC236}">
                <a16:creationId xmlns:a16="http://schemas.microsoft.com/office/drawing/2014/main" id="{3BB2814F-81B9-4D82-80F4-53D3E189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05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提前核对入园证件、有效期、退改。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T₁ 为单人实际一日票费。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T₂ 为单人满足两天入园的全部票费。</a:t>
            </a:r>
          </a:p>
        </p:txBody>
      </p:sp>
      <p:sp>
        <p:nvSpPr>
          <p:cNvPr id="6" name="早鸟是提前购票优惠">
            <a:extLst xmlns:a="http://schemas.openxmlformats.org/drawingml/2006/main">
              <a:ext uri="{FF2B5EF4-FFF2-40B4-BE49-F238E27FC236}">
                <a16:creationId xmlns:a16="http://schemas.microsoft.com/office/drawing/2014/main" id="{F22AE808-B963-4011-84A6-4260FB2F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336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早鸟是提前购票优惠</a:t>
            </a:r>
          </a:p>
        </p:txBody>
      </p:sp>
      <p:sp>
        <p:nvSpPr>
          <p:cNvPr id="7" name="官方 10/13 列表：早鸟一日 449 元起，&#10;早鸟二日 79">
            <a:extLst xmlns:a="http://schemas.openxmlformats.org/drawingml/2006/main">
              <a:ext uri="{FF2B5EF4-FFF2-40B4-BE49-F238E27FC236}">
                <a16:creationId xmlns:a16="http://schemas.microsoft.com/office/drawing/2014/main" id="{43B9E388-C825-42C0-9037-8F842A1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19400"/>
            <a:ext cx="5048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官方 10/13 列表：早鸟一日 449 元起，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早鸟二日 798 元起。常规一日／二日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列表均显示 475 元起，需进入产品核对。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起价不能代替 10/28 指定日成交价。</a:t>
            </a:r>
          </a:p>
        </p:txBody>
      </p:sp>
      <p:sp>
        <p:nvSpPr>
          <p:cNvPr id="8" name="早享是提前入园产品，需另看条件">
            <a:extLst xmlns:a="http://schemas.openxmlformats.org/drawingml/2006/main">
              <a:ext uri="{FF2B5EF4-FFF2-40B4-BE49-F238E27FC236}">
                <a16:creationId xmlns:a16="http://schemas.microsoft.com/office/drawing/2014/main" id="{10FD4613-5E37-4A34-8EF7-55BF2D3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530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早享是提前入园产品，需另看条件</a:t>
            </a:r>
          </a:p>
        </p:txBody>
      </p:sp>
      <p:sp>
        <p:nvSpPr>
          <p:cNvPr id="9" name="早鸟列表写提前 10 天购票。10/28 入园可尽早在 10/1">
            <a:extLst xmlns:a="http://schemas.openxmlformats.org/drawingml/2006/main">
              <a:ext uri="{FF2B5EF4-FFF2-40B4-BE49-F238E27FC236}">
                <a16:creationId xmlns:a16="http://schemas.microsoft.com/office/drawing/2014/main" id="{B6F04FE6-1451-4355-94F2-2292955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早鸟列表写提前 10 天购票。10/28 入园可尽早在 10/18 前核条件，周三也不保证人少。</a:t>
            </a:r>
          </a:p>
        </p:txBody>
      </p:sp>
      <p:sp>
        <p:nvSpPr>
          <p:cNvPr id="10" name="官方门票产品">
            <a:extLst xmlns:a="http://schemas.openxmlformats.org/drawingml/2006/main">
              <a:ext uri="{FF2B5EF4-FFF2-40B4-BE49-F238E27FC236}">
                <a16:creationId xmlns:a16="http://schemas.microsoft.com/office/drawing/2014/main" id="{EB13511A-A140-46B4-9B12-796E2D0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49952cb9e3400b"/>
              </a:rPr>
              <a:t>官方门票产品</a:t>
            </a:r>
          </a:p>
        </p:txBody>
      </p:sp>
    </p:spTree>
    <p:extLst>
      <p:ext uri="{BB962C8B-B14F-4D97-AF65-F5344CB8AC3E}">
        <p14:creationId xmlns:p14="http://schemas.microsoft.com/office/powerpoint/2010/main" val="1155097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乐园随身小包与禁带物">
            <a:extLst xmlns:a="http://schemas.openxmlformats.org/drawingml/2006/main">
              <a:ext uri="{FF2B5EF4-FFF2-40B4-BE49-F238E27FC236}">
                <a16:creationId xmlns:a16="http://schemas.microsoft.com/office/drawing/2014/main" id="{D4A629F9-76F9-40DA-907A-7C124AAE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乐园随身小包与禁带物</a:t>
            </a:r>
          </a:p>
        </p:txBody>
      </p:sp>
      <p:sp>
        <p:nvSpPr>
          <p:cNvPr id="2" name="据 2026-10-13 已读的官方游客须知，出发前仍需查看更新">
            <a:extLst xmlns:a="http://schemas.openxmlformats.org/drawingml/2006/main">
              <a:ext uri="{FF2B5EF4-FFF2-40B4-BE49-F238E27FC236}">
                <a16:creationId xmlns:a16="http://schemas.microsoft.com/office/drawing/2014/main" id="{F513B011-0C2D-4591-AA68-DFBCD81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据 2026-10-13 已读的官方游客须知，出发前仍需查看更新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D6BE7FEF-40B6-4643-8C5F-EDE2AA4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小包建议">
            <a:extLst xmlns:a="http://schemas.openxmlformats.org/drawingml/2006/main">
              <a:ext uri="{FF2B5EF4-FFF2-40B4-BE49-F238E27FC236}">
                <a16:creationId xmlns:a16="http://schemas.microsoft.com/office/drawing/2014/main" id="{79F122E7-DB2A-4744-A349-E026E01E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小包建议</a:t>
            </a:r>
          </a:p>
        </p:txBody>
      </p:sp>
      <p:sp>
        <p:nvSpPr>
          <p:cNvPr id="5" name="证件、手机、充电宝、雨具&#10;本人食用的常温食品／饮料&#10;轻便好走的鞋">
            <a:extLst xmlns:a="http://schemas.openxmlformats.org/drawingml/2006/main">
              <a:ext uri="{FF2B5EF4-FFF2-40B4-BE49-F238E27FC236}">
                <a16:creationId xmlns:a16="http://schemas.microsoft.com/office/drawing/2014/main" id="{AB15E1D5-1E6A-4BAB-9680-5D3F914C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证件、手机、充电宝、雨具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本人食用的常温食品／饮料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轻便好走的鞋，必要常用药</a:t>
            </a:r>
          </a:p>
        </p:txBody>
      </p:sp>
      <p:sp>
        <p:nvSpPr>
          <p:cNvPr id="6" name="官方限制">
            <a:extLst xmlns:a="http://schemas.openxmlformats.org/drawingml/2006/main">
              <a:ext uri="{FF2B5EF4-FFF2-40B4-BE49-F238E27FC236}">
                <a16:creationId xmlns:a16="http://schemas.microsoft.com/office/drawing/2014/main" id="{AC8C5EBF-784C-4770-B3E9-677D4C0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95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官方限制</a:t>
            </a:r>
          </a:p>
        </p:txBody>
      </p:sp>
      <p:sp>
        <p:nvSpPr>
          <p:cNvPr id="7" name="禁需加热、加工、冷藏、保温及强气味食品&#10;禁酒、罐装及玻璃容器&#10;禁">
            <a:extLst xmlns:a="http://schemas.openxmlformats.org/drawingml/2006/main">
              <a:ext uri="{FF2B5EF4-FFF2-40B4-BE49-F238E27FC236}">
                <a16:creationId xmlns:a16="http://schemas.microsoft.com/office/drawing/2014/main" id="{37505C71-B340-4FC5-BE4E-41CB54C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7652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禁需加热、加工、冷藏、保温及强气味食品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禁酒、罐装及玻璃容器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禁三脚架、伸缩自拍／稳定器、折叠椅凳</a:t>
            </a:r>
          </a:p>
        </p:txBody>
      </p:sp>
      <p:sp>
        <p:nvSpPr>
          <p:cNvPr id="8" name="箱包：超过 56 × 36 × 23 厘米不允许">
            <a:extLst xmlns:a="http://schemas.openxmlformats.org/drawingml/2006/main">
              <a:ext uri="{FF2B5EF4-FFF2-40B4-BE49-F238E27FC236}">
                <a16:creationId xmlns:a16="http://schemas.microsoft.com/office/drawing/2014/main" id="{FC9F06BB-5CB8-4B90-AFFC-4D67452F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箱包：超过 56 × 36 × 23 厘米不允许</a:t>
            </a:r>
          </a:p>
        </p:txBody>
      </p:sp>
      <p:sp>
        <p:nvSpPr>
          <p:cNvPr id="9" name="任何带轮行李箱也不允许。充电宝另按航司／机场当前携带规定确认。">
            <a:extLst xmlns:a="http://schemas.openxmlformats.org/drawingml/2006/main">
              <a:ext uri="{FF2B5EF4-FFF2-40B4-BE49-F238E27FC236}">
                <a16:creationId xmlns:a16="http://schemas.microsoft.com/office/drawing/2014/main" id="{A1406D77-DB27-4361-8B5E-B8D8C40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任何带轮行李箱也不允许。充电宝另按航司／机场当前携带规定确认。</a:t>
            </a:r>
          </a:p>
        </p:txBody>
      </p:sp>
      <p:sp>
        <p:nvSpPr>
          <p:cNvPr id="10" name="官方游客须知">
            <a:extLst xmlns:a="http://schemas.openxmlformats.org/drawingml/2006/main">
              <a:ext uri="{FF2B5EF4-FFF2-40B4-BE49-F238E27FC236}">
                <a16:creationId xmlns:a16="http://schemas.microsoft.com/office/drawing/2014/main" id="{9A0B6F15-B62F-4F33-835C-A6EA556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291e96d8bf4ad0"/>
              </a:rPr>
              <a:t>官方游客须知</a:t>
            </a:r>
          </a:p>
        </p:txBody>
      </p:sp>
    </p:spTree>
    <p:extLst>
      <p:ext uri="{BB962C8B-B14F-4D97-AF65-F5344CB8AC3E}">
        <p14:creationId xmlns:p14="http://schemas.microsoft.com/office/powerpoint/2010/main" val="13665466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E06BC-E8B7-458D-99FF-25010878567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42C31-9930-4EBF-84CC-A6AD5D9E61B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75777-A7A0-4929-A68C-6DA51981C7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D6 迪士尼一日：东侧区域为主">
            <a:extLst xmlns:a="http://schemas.openxmlformats.org/drawingml/2006/main">
              <a:ext uri="{FF2B5EF4-FFF2-40B4-BE49-F238E27FC236}">
                <a16:creationId xmlns:a16="http://schemas.microsoft.com/office/drawing/2014/main" id="{A25B7C66-E1F9-43B9-8CFA-1618713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D6 迪士尼一日：东侧区域为主</a:t>
            </a:r>
          </a:p>
        </p:txBody>
      </p:sp>
      <p:sp>
        <p:nvSpPr>
          <p:cNvPr id="2" name="3 个主要目标，加看秀与午间休息。小路按官方地图和现场通行">
            <a:extLst xmlns:a="http://schemas.openxmlformats.org/drawingml/2006/main">
              <a:ext uri="{FF2B5EF4-FFF2-40B4-BE49-F238E27FC236}">
                <a16:creationId xmlns:a16="http://schemas.microsoft.com/office/drawing/2014/main" id="{00FB0079-F915-499E-B59D-74C6A82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3 个主要目标，加看秀与午间休息。小路按官方地图和现场通行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973F7532-E095-4307-AB25-9B86D963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A41B095-7A24-4C8E-BD5D-A173F20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探险岛">
            <a:extLst xmlns:a="http://schemas.openxmlformats.org/drawingml/2006/main">
              <a:ext uri="{FF2B5EF4-FFF2-40B4-BE49-F238E27FC236}">
                <a16:creationId xmlns:a16="http://schemas.microsoft.com/office/drawing/2014/main" id="{997A57CC-A39D-46B8-B53A-FF5E2A31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探险岛</a:t>
            </a:r>
          </a:p>
        </p:txBody>
      </p:sp>
      <p:sp>
        <p:nvSpPr>
          <p:cNvPr id="6" name="翱翔·飞越地平线&#10;排队过长先看邻近秀&#10;开场以官方 App 为准">
            <a:extLst xmlns:a="http://schemas.openxmlformats.org/drawingml/2006/main">
              <a:ext uri="{FF2B5EF4-FFF2-40B4-BE49-F238E27FC236}">
                <a16:creationId xmlns:a16="http://schemas.microsoft.com/office/drawing/2014/main" id="{9E472A9C-D972-4B00-8794-F91D017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翱翔·飞越地平线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排队过长先看邻近秀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开场以官方 App 为准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84CB841D-4415-477F-9C35-2E09AB56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宝藏湾">
            <a:extLst xmlns:a="http://schemas.openxmlformats.org/drawingml/2006/main">
              <a:ext uri="{FF2B5EF4-FFF2-40B4-BE49-F238E27FC236}">
                <a16:creationId xmlns:a16="http://schemas.microsoft.com/office/drawing/2014/main" id="{2187DCF9-EB39-49ED-90B1-58A1814D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宝藏湾</a:t>
            </a:r>
          </a:p>
        </p:txBody>
      </p:sp>
      <p:sp>
        <p:nvSpPr>
          <p:cNvPr id="9" name="加勒比海盗&#10;沉落宝藏之战&#10;在所在区域吃午饭">
            <a:extLst xmlns:a="http://schemas.openxmlformats.org/drawingml/2006/main">
              <a:ext uri="{FF2B5EF4-FFF2-40B4-BE49-F238E27FC236}">
                <a16:creationId xmlns:a16="http://schemas.microsoft.com/office/drawing/2014/main" id="{77EE3BC6-76A1-4D89-8225-46FDC1A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加勒比海盗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沉落宝藏之战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在所在区域吃午饭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F5421C7E-BED9-49A7-A82D-8A6D3A6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疯狂动物城">
            <a:extLst xmlns:a="http://schemas.openxmlformats.org/drawingml/2006/main">
              <a:ext uri="{FF2B5EF4-FFF2-40B4-BE49-F238E27FC236}">
                <a16:creationId xmlns:a16="http://schemas.microsoft.com/office/drawing/2014/main" id="{91F9D110-272B-4EDD-A8A2-C5DA1EB7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疯狂动物城</a:t>
            </a:r>
          </a:p>
        </p:txBody>
      </p:sp>
      <p:sp>
        <p:nvSpPr>
          <p:cNvPr id="12" name="热力追踪与街景&#10;结合即时排队安排&#10;热度高时灵活调整">
            <a:extLst xmlns:a="http://schemas.openxmlformats.org/drawingml/2006/main">
              <a:ext uri="{FF2B5EF4-FFF2-40B4-BE49-F238E27FC236}">
                <a16:creationId xmlns:a16="http://schemas.microsoft.com/office/drawing/2014/main" id="{BDDEB231-A516-49BE-AA4B-89E4A90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热力追踪与街景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结合即时排队安排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热度高时灵活调整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42492DA2-3294-483B-AC87-566EA24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休息与演出">
            <a:extLst xmlns:a="http://schemas.openxmlformats.org/drawingml/2006/main">
              <a:ext uri="{FF2B5EF4-FFF2-40B4-BE49-F238E27FC236}">
                <a16:creationId xmlns:a16="http://schemas.microsoft.com/office/drawing/2014/main" id="{087F6C12-6DD8-4FAF-956A-0088C3C5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休息与演出</a:t>
            </a:r>
          </a:p>
        </p:txBody>
      </p:sp>
      <p:sp>
        <p:nvSpPr>
          <p:cNvPr id="15" name="午休 60–90 分钟&#10;城堡／园景拍照&#10;夜秀按当日安排">
            <a:extLst xmlns:a="http://schemas.openxmlformats.org/drawingml/2006/main">
              <a:ext uri="{FF2B5EF4-FFF2-40B4-BE49-F238E27FC236}">
                <a16:creationId xmlns:a16="http://schemas.microsoft.com/office/drawing/2014/main" id="{E24BF9AC-AD4C-42C0-9CC7-60E01F0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午休 60–90 分钟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城堡／园景拍照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夜秀按当日安排</a:t>
            </a:r>
          </a:p>
        </p:txBody>
      </p:sp>
      <p:sp>
        <p:nvSpPr>
          <p:cNvPr id="17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0DD3CA3E-500A-4919-ADE1-BF29E5C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19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3531DEE9-B1AE-4D35-B526-88018B1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21" name="步行">
            <a:extLst xmlns:a="http://schemas.openxmlformats.org/drawingml/2006/main">
              <a:ext uri="{FF2B5EF4-FFF2-40B4-BE49-F238E27FC236}">
                <a16:creationId xmlns:a16="http://schemas.microsoft.com/office/drawing/2014/main" id="{2EDE5348-BF04-4779-940C-579EA776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99D5943F-4BEA-4DBC-8F6E-F9DD8649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1773690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C6FF7-B957-4867-BAAD-9048ED9342B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08230-96F0-44A8-93A0-FF598D27A97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5FD5D-256F-421D-8206-75C6242A3E6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8 天版：第二天西侧与中部">
            <a:extLst xmlns:a="http://schemas.openxmlformats.org/drawingml/2006/main">
              <a:ext uri="{FF2B5EF4-FFF2-40B4-BE49-F238E27FC236}">
                <a16:creationId xmlns:a16="http://schemas.microsoft.com/office/drawing/2014/main" id="{88B478BD-EFCC-4553-9741-6D80D7F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 天版：第二天西侧与中部</a:t>
            </a:r>
          </a:p>
        </p:txBody>
      </p:sp>
      <p:sp>
        <p:nvSpPr>
          <p:cNvPr id="2" name="D7 降低强度，补最想玩的体验，D8 再返程">
            <a:extLst xmlns:a="http://schemas.openxmlformats.org/drawingml/2006/main">
              <a:ext uri="{FF2B5EF4-FFF2-40B4-BE49-F238E27FC236}">
                <a16:creationId xmlns:a16="http://schemas.microsoft.com/office/drawing/2014/main" id="{76D3E994-8678-4480-AAB6-7ADC2E4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D7 降低强度，补最想玩的体验，D8 再返程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7C2796D6-FB06-4F4F-8C6F-4A6C2C5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6DCA133-58EC-46FE-9542-2B2BD4B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明日世界">
            <a:extLst xmlns:a="http://schemas.openxmlformats.org/drawingml/2006/main">
              <a:ext uri="{FF2B5EF4-FFF2-40B4-BE49-F238E27FC236}">
                <a16:creationId xmlns:a16="http://schemas.microsoft.com/office/drawing/2014/main" id="{AF61A351-70D0-461E-8D0C-40BD1C6C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明日世界</a:t>
            </a:r>
          </a:p>
        </p:txBody>
      </p:sp>
      <p:sp>
        <p:nvSpPr>
          <p:cNvPr id="6" name="创极速光轮&#10;喜欢刺激者重点选&#10;物品按现场寄存要求">
            <a:extLst xmlns:a="http://schemas.openxmlformats.org/drawingml/2006/main">
              <a:ext uri="{FF2B5EF4-FFF2-40B4-BE49-F238E27FC236}">
                <a16:creationId xmlns:a16="http://schemas.microsoft.com/office/drawing/2014/main" id="{2B69EE4D-3876-41C5-B07C-15F79D9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创极速光轮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喜欢刺激者重点选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物品按现场寄存要求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274159D-5913-467B-85ED-0F7CD6B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梦幻世界">
            <a:extLst xmlns:a="http://schemas.openxmlformats.org/drawingml/2006/main">
              <a:ext uri="{FF2B5EF4-FFF2-40B4-BE49-F238E27FC236}">
                <a16:creationId xmlns:a16="http://schemas.microsoft.com/office/drawing/2014/main" id="{B538DF03-ADE4-4C9E-A6A7-D291E0EE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梦幻世界</a:t>
            </a:r>
          </a:p>
        </p:txBody>
      </p:sp>
      <p:sp>
        <p:nvSpPr>
          <p:cNvPr id="9" name="矿山车／小飞侠等&#10;挑一个感兴趣项目&#10;不必把项目刷齐">
            <a:extLst xmlns:a="http://schemas.openxmlformats.org/drawingml/2006/main">
              <a:ext uri="{FF2B5EF4-FFF2-40B4-BE49-F238E27FC236}">
                <a16:creationId xmlns:a16="http://schemas.microsoft.com/office/drawing/2014/main" id="{39B99070-2F99-452B-BEF5-D9C110B8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矿山车／小飞侠等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挑一个感兴趣项目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不必把项目刷齐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716CDF5F-2AB3-41FE-819E-B78EFE6A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玩具总动员">
            <a:extLst xmlns:a="http://schemas.openxmlformats.org/drawingml/2006/main">
              <a:ext uri="{FF2B5EF4-FFF2-40B4-BE49-F238E27FC236}">
                <a16:creationId xmlns:a16="http://schemas.microsoft.com/office/drawing/2014/main" id="{BF006298-EBB1-4A8E-B1E3-7D9EBAE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玩具总动员</a:t>
            </a:r>
          </a:p>
        </p:txBody>
      </p:sp>
      <p:sp>
        <p:nvSpPr>
          <p:cNvPr id="12" name="邻近小项目可选&#10;或删掉一段休息&#10;用 App 查看状态">
            <a:extLst xmlns:a="http://schemas.openxmlformats.org/drawingml/2006/main">
              <a:ext uri="{FF2B5EF4-FFF2-40B4-BE49-F238E27FC236}">
                <a16:creationId xmlns:a16="http://schemas.microsoft.com/office/drawing/2014/main" id="{4883B92A-89C5-49E0-B3BD-67FD396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邻近小项目可选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或删掉一段休息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用 App 查看状态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17978B67-8BF3-418D-9273-B7D2E35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中心与购物">
            <a:extLst xmlns:a="http://schemas.openxmlformats.org/drawingml/2006/main">
              <a:ext uri="{FF2B5EF4-FFF2-40B4-BE49-F238E27FC236}">
                <a16:creationId xmlns:a16="http://schemas.microsoft.com/office/drawing/2014/main" id="{DB6D7E00-FC3C-4741-B9D2-0A3FA13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中心与购物</a:t>
            </a:r>
          </a:p>
        </p:txBody>
      </p:sp>
      <p:sp>
        <p:nvSpPr>
          <p:cNvPr id="15" name="角色合照、拍照&#10;下午再买周边&#10;避免一路抱着大件">
            <a:extLst xmlns:a="http://schemas.openxmlformats.org/drawingml/2006/main">
              <a:ext uri="{FF2B5EF4-FFF2-40B4-BE49-F238E27FC236}">
                <a16:creationId xmlns:a16="http://schemas.microsoft.com/office/drawing/2014/main" id="{E4A73E28-A435-4C71-B726-01FCCBE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角色合照、拍照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下午再买周边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避免一路抱着大件</a:t>
            </a:r>
          </a:p>
        </p:txBody>
      </p:sp>
      <p:sp>
        <p:nvSpPr>
          <p:cNvPr id="17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FD3462F7-F580-48C2-B8B7-5ABF514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19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DFE31090-0655-4478-99A2-BB24F87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21" name="步行">
            <a:extLst xmlns:a="http://schemas.openxmlformats.org/drawingml/2006/main">
              <a:ext uri="{FF2B5EF4-FFF2-40B4-BE49-F238E27FC236}">
                <a16:creationId xmlns:a16="http://schemas.microsoft.com/office/drawing/2014/main" id="{DC2A3B21-FB39-408C-8BA9-88271F26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55BF0A3D-E414-40E1-90FC-4F799C47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1935872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迪士尼现场节奏与餐饮">
            <a:extLst xmlns:a="http://schemas.openxmlformats.org/drawingml/2006/main">
              <a:ext uri="{FF2B5EF4-FFF2-40B4-BE49-F238E27FC236}">
                <a16:creationId xmlns:a16="http://schemas.microsoft.com/office/drawing/2014/main" id="{BBA04592-AD46-419A-AF08-F3C530C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迪士尼现场节奏与餐饮</a:t>
            </a:r>
          </a:p>
        </p:txBody>
      </p:sp>
      <p:sp>
        <p:nvSpPr>
          <p:cNvPr id="2" name="60 分钟排队上限是舒适偏好，客流与演出不能提前保证">
            <a:extLst xmlns:a="http://schemas.openxmlformats.org/drawingml/2006/main">
              <a:ext uri="{FF2B5EF4-FFF2-40B4-BE49-F238E27FC236}">
                <a16:creationId xmlns:a16="http://schemas.microsoft.com/office/drawing/2014/main" id="{94D5D34C-5108-4CEC-B29C-4818712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60 分钟排队上限是舒适偏好，客流与演出不能提前保证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644947A1-8AAF-4A1D-9386-7DEDEB92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排队选择">
            <a:extLst xmlns:a="http://schemas.openxmlformats.org/drawingml/2006/main">
              <a:ext uri="{FF2B5EF4-FFF2-40B4-BE49-F238E27FC236}">
                <a16:creationId xmlns:a16="http://schemas.microsoft.com/office/drawing/2014/main" id="{67B721C3-43E4-462D-B6DC-DD6A4C61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排队选择</a:t>
            </a:r>
          </a:p>
        </p:txBody>
      </p:sp>
      <p:sp>
        <p:nvSpPr>
          <p:cNvPr id="5" name="超过心理上限，先吃饭、看秀或休息&#10;创极速光轮放在西侧，作为一日替">
            <a:extLst xmlns:a="http://schemas.openxmlformats.org/drawingml/2006/main">
              <a:ext uri="{FF2B5EF4-FFF2-40B4-BE49-F238E27FC236}">
                <a16:creationId xmlns:a16="http://schemas.microsoft.com/office/drawing/2014/main" id="{F9FAA270-8566-4500-9DEB-138E3AA2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超过心理上限，先吃饭、看秀或休息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创极速光轮放在西侧，作为一日替换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减少反复横穿乐园</a:t>
            </a:r>
          </a:p>
        </p:txBody>
      </p:sp>
      <p:sp>
        <p:nvSpPr>
          <p:cNvPr id="6" name="所在园区就近吃饭">
            <a:extLst xmlns:a="http://schemas.openxmlformats.org/drawingml/2006/main">
              <a:ext uri="{FF2B5EF4-FFF2-40B4-BE49-F238E27FC236}">
                <a16:creationId xmlns:a16="http://schemas.microsoft.com/office/drawing/2014/main" id="{0ACCF774-C0FB-447B-ABA9-EDFC04F7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85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所在园区就近吃饭</a:t>
            </a:r>
          </a:p>
        </p:txBody>
      </p:sp>
      <p:sp>
        <p:nvSpPr>
          <p:cNvPr id="7" name="巴波萨烧烤、星露台餐厅&#10;皮诺丘乡村厨房等查官方 App&#10;两人每日">
            <a:extLst xmlns:a="http://schemas.openxmlformats.org/drawingml/2006/main">
              <a:ext uri="{FF2B5EF4-FFF2-40B4-BE49-F238E27FC236}">
                <a16:creationId xmlns:a16="http://schemas.microsoft.com/office/drawing/2014/main" id="{DA2A0067-DD60-4FE9-B779-1F274C6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670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巴波萨烧烤、星露台餐厅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皮诺丘乡村厨房等查官方 App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两人每日普通餐饮预留 240–400 元</a:t>
            </a:r>
          </a:p>
        </p:txBody>
      </p:sp>
      <p:sp>
        <p:nvSpPr>
          <p:cNvPr id="8" name="付费加速与回酒店午睡">
            <a:extLst xmlns:a="http://schemas.openxmlformats.org/drawingml/2006/main">
              <a:ext uri="{FF2B5EF4-FFF2-40B4-BE49-F238E27FC236}">
                <a16:creationId xmlns:a16="http://schemas.microsoft.com/office/drawing/2014/main" id="{D0A03418-8CB8-4CE0-BC0A-89726CA0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付费加速与回酒店午睡</a:t>
            </a:r>
          </a:p>
        </p:txBody>
      </p:sp>
      <p:sp>
        <p:nvSpPr>
          <p:cNvPr id="9" name="只为一直排很久的必玩项目比较官方在售尊享。&#10;酒店往返方便且票务允">
            <a:extLst xmlns:a="http://schemas.openxmlformats.org/drawingml/2006/main">
              <a:ext uri="{FF2B5EF4-FFF2-40B4-BE49-F238E27FC236}">
                <a16:creationId xmlns:a16="http://schemas.microsoft.com/office/drawing/2014/main" id="{CA23630E-04A4-400A-AE32-52CA2D7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只为一直排很久的必玩项目比较官方在售尊享。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酒店往返方便且票务允许当日再入园，才考虑回酒店午睡。</a:t>
            </a:r>
          </a:p>
        </p:txBody>
      </p:sp>
      <p:sp>
        <p:nvSpPr>
          <p:cNvPr id="10" name="近 11 号线 B 到乐园安检预留 30–60 分钟，不含安检排">
            <a:extLst xmlns:a="http://schemas.openxmlformats.org/drawingml/2006/main">
              <a:ext uri="{FF2B5EF4-FFF2-40B4-BE49-F238E27FC236}">
                <a16:creationId xmlns:a16="http://schemas.microsoft.com/office/drawing/2014/main" id="{771A746F-EC1D-4AD5-8847-27676A0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近 11 号线 B 到乐园安检预留 30–60 分钟，不含安检排队。末班与回程出发前确认。</a:t>
            </a:r>
          </a:p>
        </p:txBody>
      </p:sp>
    </p:spTree>
    <p:extLst>
      <p:ext uri="{BB962C8B-B14F-4D97-AF65-F5344CB8AC3E}">
        <p14:creationId xmlns:p14="http://schemas.microsoft.com/office/powerpoint/2010/main" val="5337070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上海街头奶茶：顺路尝 2–3 次">
            <a:extLst xmlns:a="http://schemas.openxmlformats.org/drawingml/2006/main">
              <a:ext uri="{FF2B5EF4-FFF2-40B4-BE49-F238E27FC236}">
                <a16:creationId xmlns:a16="http://schemas.microsoft.com/office/drawing/2014/main" id="{FADC10C7-0458-44A1-A772-55BF2CC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上海街头奶茶：顺路尝 2–3 次</a:t>
            </a:r>
          </a:p>
        </p:txBody>
      </p:sp>
      <p:sp>
        <p:nvSpPr>
          <p:cNvPr id="2" name="优先体验路线附近饮品，品牌起源与门店在售另行确认">
            <a:extLst xmlns:a="http://schemas.openxmlformats.org/drawingml/2006/main">
              <a:ext uri="{FF2B5EF4-FFF2-40B4-BE49-F238E27FC236}">
                <a16:creationId xmlns:a16="http://schemas.microsoft.com/office/drawing/2014/main" id="{E40ABB0F-96CD-4EEC-A161-81800F3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优先体验路线附近饮品，品牌起源与门店在售另行确认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F23EFA9B-3130-4FB6-BDB9-BDA77D2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5D354-B870-401C-941E-24C755E2ABAF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4162425"/>
                <a:gridCol w="3143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点单方向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裕莲茶楼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琥珀奶茶，蛋挞共享可选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顺路，单篇线索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附近在营沪上阿姨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当季鲜果／鲜茶／谷物类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或 D5 附近择一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阿姨奶茶 本溪路 272 号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血糯米奶茶，小杯少糖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杨浦半日替换，先核营业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桂源铺／桂桂茶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各按真实店名搜索港式奶茶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只选地图旁在营店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阿姨奶茶与沪上阿姨分别搜索。桂源铺／桂桂茶关系未证。阿嬷源于广西">
            <a:extLst xmlns:a="http://schemas.openxmlformats.org/drawingml/2006/main">
              <a:ext uri="{FF2B5EF4-FFF2-40B4-BE49-F238E27FC236}">
                <a16:creationId xmlns:a16="http://schemas.microsoft.com/office/drawing/2014/main" id="{395F980A-DD53-4EFE-944C-4B6BE0E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阿姨奶茶与沪上阿姨分别搜索。桂源铺／桂桂茶关系未证。阿嬷源于广西，顺路可喝。</a:t>
            </a:r>
          </a:p>
        </p:txBody>
      </p:sp>
    </p:spTree>
    <p:extLst>
      <p:ext uri="{BB962C8B-B14F-4D97-AF65-F5344CB8AC3E}">
        <p14:creationId xmlns:p14="http://schemas.microsoft.com/office/powerpoint/2010/main" val="1049275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其他特色餐：附近就吃，不跨城追店">
            <a:extLst xmlns:a="http://schemas.openxmlformats.org/drawingml/2006/main">
              <a:ext uri="{FF2B5EF4-FFF2-40B4-BE49-F238E27FC236}">
                <a16:creationId xmlns:a16="http://schemas.microsoft.com/office/drawing/2014/main" id="{EBD163A8-77F9-4D94-933A-C597FF9A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其他特色餐：附近就吃，不跨城追店</a:t>
            </a:r>
          </a:p>
        </p:txBody>
      </p:sp>
      <p:sp>
        <p:nvSpPr>
          <p:cNvPr id="2" name="本帮菜先点一荤一素加主食，甜浓菜不必同餐多点">
            <a:extLst xmlns:a="http://schemas.openxmlformats.org/drawingml/2006/main">
              <a:ext uri="{FF2B5EF4-FFF2-40B4-BE49-F238E27FC236}">
                <a16:creationId xmlns:a16="http://schemas.microsoft.com/office/drawing/2014/main" id="{E29260F5-D6EC-4DE0-B548-8D3F95D1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本帮菜先点一荤一素加主食，甜浓菜不必同餐多点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1EA3C93C-92DA-4E4D-BA32-591F39E2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4587E-8246-4D0D-9669-8D01C3B2409F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638550"/>
                <a:gridCol w="4286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餐食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店铺候选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路线与预留预算／两人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本帮红烧肉／小排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上海老饭店／老正兴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顺路一餐，180–300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葱油拌面／点心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德兴馆，核附近分店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简便餐，50–100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麻酱拌面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味香斋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淮海西侧替换，50–100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鲜肉月饼／熟食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光明邨 淮海中路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淮海西侧替换，30–80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老饭店／老正兴证据较弱，作为候选。预算并非菜单价，月饼／熟食先问">
            <a:extLst xmlns:a="http://schemas.openxmlformats.org/drawingml/2006/main">
              <a:ext uri="{FF2B5EF4-FFF2-40B4-BE49-F238E27FC236}">
                <a16:creationId xmlns:a16="http://schemas.microsoft.com/office/drawing/2014/main" id="{314754AA-8790-44D8-B127-47C7C09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老饭店／老正兴证据较弱，作为候选。预算并非菜单价，月饼／熟食先问保存条件。</a:t>
            </a:r>
          </a:p>
        </p:txBody>
      </p:sp>
    </p:spTree>
    <p:extLst>
      <p:ext uri="{BB962C8B-B14F-4D97-AF65-F5344CB8AC3E}">
        <p14:creationId xmlns:p14="http://schemas.microsoft.com/office/powerpoint/2010/main" val="746778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返程日：自然醒后去机场">
            <a:extLst xmlns:a="http://schemas.openxmlformats.org/drawingml/2006/main">
              <a:ext uri="{FF2B5EF4-FFF2-40B4-BE49-F238E27FC236}">
                <a16:creationId xmlns:a16="http://schemas.microsoft.com/office/drawing/2014/main" id="{BABA0502-EA45-495D-8065-4EE8F86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返程日：自然醒后去机场</a:t>
            </a:r>
          </a:p>
        </p:txBody>
      </p:sp>
      <p:sp>
        <p:nvSpPr>
          <p:cNvPr id="2" name="7 天版 D7，8 天版 D8，优先下午或傍晚航班">
            <a:extLst xmlns:a="http://schemas.openxmlformats.org/drawingml/2006/main">
              <a:ext uri="{FF2B5EF4-FFF2-40B4-BE49-F238E27FC236}">
                <a16:creationId xmlns:a16="http://schemas.microsoft.com/office/drawing/2014/main" id="{B860003C-5457-4A28-A4DD-E819ED9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7 天版 D7，8 天版 D8，优先下午或傍晚航班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AF78093-F925-47BA-9401-5ABEC26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浦东机场">
            <a:extLst xmlns:a="http://schemas.openxmlformats.org/drawingml/2006/main">
              <a:ext uri="{FF2B5EF4-FFF2-40B4-BE49-F238E27FC236}">
                <a16:creationId xmlns:a16="http://schemas.microsoft.com/office/drawing/2014/main" id="{4507B908-F23D-467B-9ACC-ED9BA982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浦东机场</a:t>
            </a:r>
          </a:p>
        </p:txBody>
      </p:sp>
      <p:sp>
        <p:nvSpPr>
          <p:cNvPr id="5" name="通常离迪士尼周边较近&#10;按 B 准确地址比较地铁／网约车&#10;时间、费">
            <a:extLst xmlns:a="http://schemas.openxmlformats.org/drawingml/2006/main">
              <a:ext uri="{FF2B5EF4-FFF2-40B4-BE49-F238E27FC236}">
                <a16:creationId xmlns:a16="http://schemas.microsoft.com/office/drawing/2014/main" id="{74A77345-6786-4203-9221-C3C5E9E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通常离迪士尼周边较近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按 B 准确地址比较地铁／网约车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时间、费用按当天导航与叫车页</a:t>
            </a:r>
          </a:p>
        </p:txBody>
      </p:sp>
      <p:sp>
        <p:nvSpPr>
          <p:cNvPr id="6" name="虹桥机场">
            <a:extLst xmlns:a="http://schemas.openxmlformats.org/drawingml/2006/main">
              <a:ext uri="{FF2B5EF4-FFF2-40B4-BE49-F238E27FC236}">
                <a16:creationId xmlns:a16="http://schemas.microsoft.com/office/drawing/2014/main" id="{3EE31BB1-3EE3-4E86-A088-DEE4DE8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05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虹桥机场</a:t>
            </a:r>
          </a:p>
        </p:txBody>
      </p:sp>
      <p:sp>
        <p:nvSpPr>
          <p:cNvPr id="7" name="11 号线到交通大学换 10 号线&#10;确认航站楼与地铁出口&#10;行李多">
            <a:extLst xmlns:a="http://schemas.openxmlformats.org/drawingml/2006/main">
              <a:ext uri="{FF2B5EF4-FFF2-40B4-BE49-F238E27FC236}">
                <a16:creationId xmlns:a16="http://schemas.microsoft.com/office/drawing/2014/main" id="{AB458DF1-7119-4898-87EE-76B7E3D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860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11 号线到交通大学换 10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确认航站楼与地铁出口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行李多或早班机优先比较打车</a:t>
            </a:r>
          </a:p>
        </p:txBody>
      </p:sp>
      <p:sp>
        <p:nvSpPr>
          <p:cNvPr id="8" name="返程不加远处景点">
            <a:extLst xmlns:a="http://schemas.openxmlformats.org/drawingml/2006/main">
              <a:ext uri="{FF2B5EF4-FFF2-40B4-BE49-F238E27FC236}">
                <a16:creationId xmlns:a16="http://schemas.microsoft.com/office/drawing/2014/main" id="{9B636E50-A366-4715-B091-0F80DFBA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1071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返程不加远处景点</a:t>
            </a:r>
          </a:p>
        </p:txBody>
      </p:sp>
      <p:sp>
        <p:nvSpPr>
          <p:cNvPr id="9" name="先核航班值机要求，再加市区／机场交通、取行李与步行余量。&#10;伴手礼">
            <a:extLst xmlns:a="http://schemas.openxmlformats.org/drawingml/2006/main">
              <a:ext uri="{FF2B5EF4-FFF2-40B4-BE49-F238E27FC236}">
                <a16:creationId xmlns:a16="http://schemas.microsoft.com/office/drawing/2014/main" id="{75D73DCF-AD0A-4951-91BC-B732BFC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先核航班值机要求，再加市区／机场交通、取行李与步行余量。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伴手礼少量买，不把乐园散场当晚接早航班。</a:t>
            </a:r>
          </a:p>
        </p:txBody>
      </p:sp>
    </p:spTree>
    <p:extLst>
      <p:ext uri="{BB962C8B-B14F-4D97-AF65-F5344CB8AC3E}">
        <p14:creationId xmlns:p14="http://schemas.microsoft.com/office/powerpoint/2010/main" val="7643090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市区交通速查：以大世界 A 为例">
            <a:extLst xmlns:a="http://schemas.openxmlformats.org/drawingml/2006/main">
              <a:ext uri="{FF2B5EF4-FFF2-40B4-BE49-F238E27FC236}">
                <a16:creationId xmlns:a16="http://schemas.microsoft.com/office/drawing/2014/main" id="{7CFCF02C-94F2-49A3-8F8A-29CE8AA5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市区交通速查：以大世界 A 为例</a:t>
            </a:r>
          </a:p>
        </p:txBody>
      </p:sp>
      <p:sp>
        <p:nvSpPr>
          <p:cNvPr id="2" name="门到门为规划估算，出口与末班车出门前查实时导航">
            <a:extLst xmlns:a="http://schemas.openxmlformats.org/drawingml/2006/main">
              <a:ext uri="{FF2B5EF4-FFF2-40B4-BE49-F238E27FC236}">
                <a16:creationId xmlns:a16="http://schemas.microsoft.com/office/drawing/2014/main" id="{B59DB978-297C-40B7-845B-F9AE314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门到门为规划估算，出口与末班车出门前查实时导航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7A9735D8-645C-4D23-8535-30BE119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7A3D2-5987-4093-AAA7-3091CA9C1F58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6019800"/>
                <a:gridCol w="238125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主要线路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估算时间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号线到豫园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外滩／南京东路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到人民广场换 2，出站向东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30–50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武康大楼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到老西门换 10，到交通大学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45–65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号线到陆家嘴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25–45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淮海东侧／新天地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到一大会址·黄陂南路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外滩在浦西，陆家嘴在浦东。合并游玩时乘地铁过江，不能直接步行跨黄">
            <a:extLst xmlns:a="http://schemas.openxmlformats.org/drawingml/2006/main">
              <a:ext uri="{FF2B5EF4-FFF2-40B4-BE49-F238E27FC236}">
                <a16:creationId xmlns:a16="http://schemas.microsoft.com/office/drawing/2014/main" id="{A02CF18A-7DF6-41C9-9BA0-9E67F3B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外滩在浦西，陆家嘴在浦东。合并游玩时乘地铁过江，不能直接步行跨黄浦江。</a:t>
            </a:r>
          </a:p>
        </p:txBody>
      </p:sp>
    </p:spTree>
    <p:extLst>
      <p:ext uri="{BB962C8B-B14F-4D97-AF65-F5344CB8AC3E}">
        <p14:creationId xmlns:p14="http://schemas.microsoft.com/office/powerpoint/2010/main" val="13119057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、6、8 天怎么调整">
            <a:extLst xmlns:a="http://schemas.openxmlformats.org/drawingml/2006/main">
              <a:ext uri="{FF2B5EF4-FFF2-40B4-BE49-F238E27FC236}">
                <a16:creationId xmlns:a16="http://schemas.microsoft.com/office/drawing/2014/main" id="{F5C4794E-1767-44BA-8658-1A25564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5、6、8 天怎么调整</a:t>
            </a:r>
          </a:p>
        </p:txBody>
      </p:sp>
      <p:sp>
        <p:nvSpPr>
          <p:cNvPr id="2" name="保留每家至少两晚，假期越短，城市游越需要取舍">
            <a:extLst xmlns:a="http://schemas.openxmlformats.org/drawingml/2006/main">
              <a:ext uri="{FF2B5EF4-FFF2-40B4-BE49-F238E27FC236}">
                <a16:creationId xmlns:a16="http://schemas.microsoft.com/office/drawing/2014/main" id="{0459A6B6-019B-4418-B4EF-2D4BC52F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保留每家至少两晚，假期越短，城市游越需要取舍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8A478DCD-F98B-4E44-9DF6-48734E7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C285-3A60-4099-B143-30AC56E7F37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667000"/>
                <a:gridCol w="61150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住宿分配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主要取舍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天 4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地标合并一天，街区短逛，乐园 1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天 5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陆家嘴／外滩合并，删豫园专门半日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天 6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当前主方案，城市区域分别安排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天 7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+ B3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D6／D7 乐园分区玩，D8 返程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5 天版不建议再塞两日乐园。特别不想搬家可全程住 A，接受乐园日">
            <a:extLst xmlns:a="http://schemas.openxmlformats.org/drawingml/2006/main">
              <a:ext uri="{FF2B5EF4-FFF2-40B4-BE49-F238E27FC236}">
                <a16:creationId xmlns:a16="http://schemas.microsoft.com/office/drawing/2014/main" id="{AF1C142B-CF3C-4698-BFC2-62ECB43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5 天版不建议再塞两日乐园。特别不想搬家可全程住 A，接受乐园日更长通勤。</a:t>
            </a:r>
          </a:p>
        </p:txBody>
      </p:sp>
    </p:spTree>
    <p:extLst>
      <p:ext uri="{BB962C8B-B14F-4D97-AF65-F5344CB8AC3E}">
        <p14:creationId xmlns:p14="http://schemas.microsoft.com/office/powerpoint/2010/main" val="14714438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两人预算：基础费用与票机分开">
            <a:extLst xmlns:a="http://schemas.openxmlformats.org/drawingml/2006/main">
              <a:ext uri="{FF2B5EF4-FFF2-40B4-BE49-F238E27FC236}">
                <a16:creationId xmlns:a16="http://schemas.microsoft.com/office/drawing/2014/main" id="{9D8CAEE8-0F67-465E-95E7-1DEC4811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两人预算：基础费用与票机分开</a:t>
            </a:r>
          </a:p>
        </p:txBody>
      </p:sp>
      <p:sp>
        <p:nvSpPr>
          <p:cNvPr id="2" name="人民币，一间房两人合住。全部为规划估算">
            <a:extLst xmlns:a="http://schemas.openxmlformats.org/drawingml/2006/main">
              <a:ext uri="{FF2B5EF4-FFF2-40B4-BE49-F238E27FC236}">
                <a16:creationId xmlns:a16="http://schemas.microsoft.com/office/drawing/2014/main" id="{83D0B7C9-D215-4D41-9255-746E238C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人民币，一间房两人合住。全部为规划估算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3CDD257D-FC2C-4CDC-A13D-F1AD559F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B4CAB-8F6B-4BEF-A9F6-343EDFDC64A7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95800"/>
                <a:gridCol w="3238500"/>
                <a:gridCol w="3238500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天，乐园 1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天，乐园 2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住宿，按 200–500／间／晚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1,200–3,000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1,400–3,500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非乐园正餐 + 园内餐饮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1,200–2,080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1,440–2,480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茶饮咖啡 + 市内机场交通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610–1,290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690–1,460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可选景点 + 机动余量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300–1,200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350–1,300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基础小计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3,310–7,570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3,880–8,740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总额另加 2 × T₁ 或 2 × T₂，加 2 × F 和自选">
            <a:extLst xmlns:a="http://schemas.openxmlformats.org/drawingml/2006/main">
              <a:ext uri="{FF2B5EF4-FFF2-40B4-BE49-F238E27FC236}">
                <a16:creationId xmlns:a16="http://schemas.microsoft.com/office/drawing/2014/main" id="{C1647683-EF60-4C44-9317-7F6CD6BF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总额另加 2 × T₁ 或 2 × T₂，加 2 × F 和自选消费</a:t>
            </a:r>
          </a:p>
        </p:txBody>
      </p:sp>
      <p:sp>
        <p:nvSpPr>
          <p:cNvPr id="6" name="T₁：单人一日票，T₂：单人两天全部票费，F：单人往返含行李机票">
            <a:extLst xmlns:a="http://schemas.openxmlformats.org/drawingml/2006/main">
              <a:ext uri="{FF2B5EF4-FFF2-40B4-BE49-F238E27FC236}">
                <a16:creationId xmlns:a16="http://schemas.microsoft.com/office/drawing/2014/main" id="{015C7291-78B8-41D1-A0F7-C78934DD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T₁：单人一日票，T₂：单人两天全部票费，F：单人往返含行李机票。购物／早享／尊享自选。</a:t>
            </a:r>
          </a:p>
        </p:txBody>
      </p:sp>
    </p:spTree>
    <p:extLst>
      <p:ext uri="{BB962C8B-B14F-4D97-AF65-F5344CB8AC3E}">
        <p14:creationId xmlns:p14="http://schemas.microsoft.com/office/powerpoint/2010/main" val="8111191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天气、疲劳与出发前核对">
            <a:extLst xmlns:a="http://schemas.openxmlformats.org/drawingml/2006/main">
              <a:ext uri="{FF2B5EF4-FFF2-40B4-BE49-F238E27FC236}">
                <a16:creationId xmlns:a16="http://schemas.microsoft.com/office/drawing/2014/main" id="{CECF7B91-D264-4601-9815-4EAEA8C1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天气、疲劳与出发前核对</a:t>
            </a:r>
          </a:p>
        </p:txBody>
      </p:sp>
      <p:sp>
        <p:nvSpPr>
          <p:cNvPr id="2" name="十月下旬带防风外套与好走的鞋，天气以临近预报为准">
            <a:extLst xmlns:a="http://schemas.openxmlformats.org/drawingml/2006/main">
              <a:ext uri="{FF2B5EF4-FFF2-40B4-BE49-F238E27FC236}">
                <a16:creationId xmlns:a16="http://schemas.microsoft.com/office/drawing/2014/main" id="{7726E82C-B69F-4476-84BC-64EAF971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十月下旬带防风外套与好走的鞋，天气以临近预报为准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BEE31C0-17E8-42CE-BFFE-A7A5110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下雨或走累的删减顺序">
            <a:extLst xmlns:a="http://schemas.openxmlformats.org/drawingml/2006/main">
              <a:ext uri="{FF2B5EF4-FFF2-40B4-BE49-F238E27FC236}">
                <a16:creationId xmlns:a16="http://schemas.microsoft.com/office/drawing/2014/main" id="{2D3A3462-98C1-4BD4-AC58-C8B7A92F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下雨或走累的删减顺序</a:t>
            </a:r>
          </a:p>
        </p:txBody>
      </p:sp>
      <p:sp>
        <p:nvSpPr>
          <p:cNvPr id="5" name="D2 缩外滩延伸，保留短段&#10;D3 只走武康大楼与安福局部&#10;D4 ">
            <a:extLst xmlns:a="http://schemas.openxmlformats.org/drawingml/2006/main">
              <a:ext uri="{FF2B5EF4-FFF2-40B4-BE49-F238E27FC236}">
                <a16:creationId xmlns:a16="http://schemas.microsoft.com/office/drawing/2014/main" id="{05971708-1328-4FC8-B9B6-B5FE2AA8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缩外滩延伸，保留短段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D3 只走武康大楼与安福局部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D4 一个商场加滨江短段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D5 缩购物，提前入住 B</a:t>
            </a:r>
          </a:p>
        </p:txBody>
      </p:sp>
      <p:sp>
        <p:nvSpPr>
          <p:cNvPr id="6" name="行前核对">
            <a:extLst xmlns:a="http://schemas.openxmlformats.org/drawingml/2006/main">
              <a:ext uri="{FF2B5EF4-FFF2-40B4-BE49-F238E27FC236}">
                <a16:creationId xmlns:a16="http://schemas.microsoft.com/office/drawing/2014/main" id="{A86AC754-1C2D-4077-B763-0D50B6F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764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行前核对</a:t>
            </a:r>
          </a:p>
        </p:txBody>
      </p:sp>
      <p:sp>
        <p:nvSpPr>
          <p:cNvPr id="7" name="先确认门票，再落实机票与酒店&#10;B 地铁／接驳与散场回程&#10;买手店入">
            <a:extLst xmlns:a="http://schemas.openxmlformats.org/drawingml/2006/main">
              <a:ext uri="{FF2B5EF4-FFF2-40B4-BE49-F238E27FC236}">
                <a16:creationId xmlns:a16="http://schemas.microsoft.com/office/drawing/2014/main" id="{5A63B592-5309-471A-95A1-F8FEE4D4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574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先确认门票，再落实机票与酒店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B 地铁／接驳与散场回程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买手店入口、楼层、预约与在营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官方 App 开闭园、秀、项目状态</a:t>
            </a:r>
          </a:p>
        </p:txBody>
      </p:sp>
      <p:sp>
        <p:nvSpPr>
          <p:cNvPr id="8" name="地图收藏夹按每天分组">
            <a:extLst xmlns:a="http://schemas.openxmlformats.org/drawingml/2006/main">
              <a:ext uri="{FF2B5EF4-FFF2-40B4-BE49-F238E27FC236}">
                <a16:creationId xmlns:a16="http://schemas.microsoft.com/office/drawing/2014/main" id="{7F6681F2-61AB-4407-A270-BF6994D6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地图收藏夹按每天分组</a:t>
            </a:r>
          </a:p>
        </p:txBody>
      </p:sp>
      <p:sp>
        <p:nvSpPr>
          <p:cNvPr id="9" name="先收藏 A、B，再保存每一天 POI。出门只导航下一站。&#10;奶茶店">
            <a:extLst xmlns:a="http://schemas.openxmlformats.org/drawingml/2006/main">
              <a:ext uri="{FF2B5EF4-FFF2-40B4-BE49-F238E27FC236}">
                <a16:creationId xmlns:a16="http://schemas.microsoft.com/office/drawing/2014/main" id="{5F4310EB-8D5F-46AE-9978-8A52C0E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先收藏 A、B，再保存每一天 POI。出门只导航下一站。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奶茶店和餐厅各备一间附近在营店，避免为排队打乱节奏。</a:t>
            </a:r>
          </a:p>
        </p:txBody>
      </p:sp>
    </p:spTree>
    <p:extLst>
      <p:ext uri="{BB962C8B-B14F-4D97-AF65-F5344CB8AC3E}">
        <p14:creationId xmlns:p14="http://schemas.microsoft.com/office/powerpoint/2010/main" val="6956046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资料依据与可点击入口">
            <a:extLst xmlns:a="http://schemas.openxmlformats.org/drawingml/2006/main">
              <a:ext uri="{FF2B5EF4-FFF2-40B4-BE49-F238E27FC236}">
                <a16:creationId xmlns:a16="http://schemas.microsoft.com/office/drawing/2014/main" id="{1472F395-E946-4C37-9A48-AFBA5D47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资料依据与可点击入口</a:t>
            </a:r>
          </a:p>
        </p:txBody>
      </p:sp>
      <p:sp>
        <p:nvSpPr>
          <p:cNvPr id="2" name="审读日期 2026-10-13，详细原文链接保存在本页备注">
            <a:extLst xmlns:a="http://schemas.openxmlformats.org/drawingml/2006/main">
              <a:ext uri="{FF2B5EF4-FFF2-40B4-BE49-F238E27FC236}">
                <a16:creationId xmlns:a16="http://schemas.microsoft.com/office/drawing/2014/main" id="{05A7AC5D-AA2D-44CA-9C88-82CDD3A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审读日期 2026-10-13，详细原文链接保存在本页备注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310402BE-3AD6-4BAF-A3CB-E476E45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113 篇旅行指南&#10;10 篇小红书文字补充">
            <a:extLst xmlns:a="http://schemas.openxmlformats.org/drawingml/2006/main">
              <a:ext uri="{FF2B5EF4-FFF2-40B4-BE49-F238E27FC236}">
                <a16:creationId xmlns:a16="http://schemas.microsoft.com/office/drawing/2014/main" id="{6C282BC4-A54A-4D5F-9923-62D16C1E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23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113 篇旅行指南</a:t>
            </a:r>
          </a:p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10 篇小红书文字补充</a:t>
            </a:r>
          </a:p>
        </p:txBody>
      </p:sp>
      <p:sp>
        <p:nvSpPr>
          <p:cNvPr id="5" name="小红书补充吃住经验、店址与预约。&#10;实游、店方推广、AI 整理分开">
            <a:extLst xmlns:a="http://schemas.openxmlformats.org/drawingml/2006/main">
              <a:ext uri="{FF2B5EF4-FFF2-40B4-BE49-F238E27FC236}">
                <a16:creationId xmlns:a16="http://schemas.microsoft.com/office/drawing/2014/main" id="{9C24E5B0-ABDF-4639-BA5C-178DC632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小红书补充吃住经验、店址与预约。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实游、店方推广、AI 整理分开看。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具体房价、菜单、在营与指定日票价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仍以预订时／出发前信息为准。</a:t>
            </a:r>
          </a:p>
        </p:txBody>
      </p:sp>
      <p:sp>
        <p:nvSpPr>
          <p:cNvPr id="6" name="上海迪士尼官网">
            <a:extLst xmlns:a="http://schemas.openxmlformats.org/drawingml/2006/main">
              <a:ext uri="{FF2B5EF4-FFF2-40B4-BE49-F238E27FC236}">
                <a16:creationId xmlns:a16="http://schemas.microsoft.com/office/drawing/2014/main" id="{5FF8E8B0-B784-43D7-8010-CDE2EA3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44894427e84622"/>
              </a:rPr>
              <a:t>上海迪士尼官网</a:t>
            </a:r>
          </a:p>
        </p:txBody>
      </p:sp>
      <p:sp>
        <p:nvSpPr>
          <p:cNvPr id="7" name="官方门票产品">
            <a:extLst xmlns:a="http://schemas.openxmlformats.org/drawingml/2006/main">
              <a:ext uri="{FF2B5EF4-FFF2-40B4-BE49-F238E27FC236}">
                <a16:creationId xmlns:a16="http://schemas.microsoft.com/office/drawing/2014/main" id="{0EDE242B-5C75-43B7-B169-5556E9E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9193069407424f"/>
              </a:rPr>
              <a:t>官方门票产品</a:t>
            </a:r>
          </a:p>
        </p:txBody>
      </p:sp>
      <p:sp>
        <p:nvSpPr>
          <p:cNvPr id="8" name="官方游客须知">
            <a:extLst xmlns:a="http://schemas.openxmlformats.org/drawingml/2006/main">
              <a:ext uri="{FF2B5EF4-FFF2-40B4-BE49-F238E27FC236}">
                <a16:creationId xmlns:a16="http://schemas.microsoft.com/office/drawing/2014/main" id="{70BF0CDB-4740-45AC-B0B4-13D3C160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f67883d2281424b"/>
              </a:rPr>
              <a:t>官方游客须知</a:t>
            </a:r>
          </a:p>
        </p:txBody>
      </p:sp>
      <p:sp>
        <p:nvSpPr>
          <p:cNvPr id="9" name="上海地铁公告与线网">
            <a:extLst xmlns:a="http://schemas.openxmlformats.org/drawingml/2006/main">
              <a:ext uri="{FF2B5EF4-FFF2-40B4-BE49-F238E27FC236}">
                <a16:creationId xmlns:a16="http://schemas.microsoft.com/office/drawing/2014/main" id="{844DCA6C-9051-4DA9-B5EE-3C415206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433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e9f2098bce4def"/>
              </a:rPr>
              <a:t>上海地铁公告与线网</a:t>
            </a:r>
          </a:p>
        </p:txBody>
      </p:sp>
      <p:sp>
        <p:nvSpPr>
          <p:cNvPr id="10" name="小红书实游参考 X02">
            <a:extLst xmlns:a="http://schemas.openxmlformats.org/drawingml/2006/main">
              <a:ext uri="{FF2B5EF4-FFF2-40B4-BE49-F238E27FC236}">
                <a16:creationId xmlns:a16="http://schemas.microsoft.com/office/drawing/2014/main" id="{98570E73-615E-4113-BC29-58508F64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ca356874544721"/>
              </a:rPr>
              <a:t>小红书实游参考 X02</a:t>
            </a:r>
          </a:p>
        </p:txBody>
      </p:sp>
      <p:sp>
        <p:nvSpPr>
          <p:cNvPr id="11" name="路线为非比例顺序示意。店名搜索入口帮助定位，选匹配门牌 POI ">
            <a:extLst xmlns:a="http://schemas.openxmlformats.org/drawingml/2006/main">
              <a:ext uri="{FF2B5EF4-FFF2-40B4-BE49-F238E27FC236}">
                <a16:creationId xmlns:a16="http://schemas.microsoft.com/office/drawing/2014/main" id="{D445C1C7-13B4-41BD-9629-E46CFB95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路线为非比例顺序示意。店名搜索入口帮助定位，选匹配门牌 POI 后再点路线。</a:t>
            </a:r>
          </a:p>
        </p:txBody>
      </p:sp>
    </p:spTree>
    <p:extLst>
      <p:ext uri="{BB962C8B-B14F-4D97-AF65-F5344CB8AC3E}">
        <p14:creationId xmlns:p14="http://schemas.microsoft.com/office/powerpoint/2010/main" val="641319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2026-10-13T14:41:46.4990000Z</dcterms:created>
  <dcterms:modified xsi:type="dcterms:W3CDTF">2026-10-13T14:41:46.4990000Z</dcterms:modified>
</coreProperties>
</file>